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d3ffc1cce4b2e" /><Relationship Type="http://schemas.openxmlformats.org/officeDocument/2006/relationships/extended-properties" Target="/docProps/app.xml" Id="R9d715e68363e4f0e" /><Relationship Type="http://schemas.openxmlformats.org/officeDocument/2006/relationships/officeDocument" Target="/ppt/presentation.xml" Id="Rec60b0c85c30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ca81434f594ee2"/>
  </p:sldMasterIdLst>
  <p:notesMasterIdLst>
    <p:notesMasterId xmlns:r="http://schemas.openxmlformats.org/officeDocument/2006/relationships" r:id="Rdfcd32f182394142"/>
  </p:notesMasterIdLst>
  <p:sldIdLst>
    <p:sldId xmlns:r="http://schemas.openxmlformats.org/officeDocument/2006/relationships" id="256" r:id="R9acdd5d2aeef431b"/>
    <p:sldId xmlns:r="http://schemas.openxmlformats.org/officeDocument/2006/relationships" id="257" r:id="R4a7b91a0cff74e84"/>
    <p:sldId xmlns:r="http://schemas.openxmlformats.org/officeDocument/2006/relationships" id="258" r:id="R507d83e1da6742c6"/>
    <p:sldId xmlns:r="http://schemas.openxmlformats.org/officeDocument/2006/relationships" id="259" r:id="R528c68f048024ec9"/>
    <p:sldId xmlns:r="http://schemas.openxmlformats.org/officeDocument/2006/relationships" id="260" r:id="R5bd1c27528c94bdf"/>
    <p:sldId xmlns:r="http://schemas.openxmlformats.org/officeDocument/2006/relationships" id="261" r:id="Rdfa0aa44ed58481f"/>
    <p:sldId xmlns:r="http://schemas.openxmlformats.org/officeDocument/2006/relationships" id="262" r:id="Rd973d365d82e4803"/>
    <p:sldId xmlns:r="http://schemas.openxmlformats.org/officeDocument/2006/relationships" id="263" r:id="Rba43977b9b8a4e16"/>
    <p:sldId xmlns:r="http://schemas.openxmlformats.org/officeDocument/2006/relationships" id="264" r:id="R27d03205c76c4ce4"/>
    <p:sldId xmlns:r="http://schemas.openxmlformats.org/officeDocument/2006/relationships" id="265" r:id="R65633923bd374953"/>
    <p:sldId xmlns:r="http://schemas.openxmlformats.org/officeDocument/2006/relationships" id="266" r:id="Ra9155c38d0ad451e"/>
    <p:sldId xmlns:r="http://schemas.openxmlformats.org/officeDocument/2006/relationships" id="267" r:id="R101ae5cbe9ae4440"/>
    <p:sldId xmlns:r="http://schemas.openxmlformats.org/officeDocument/2006/relationships" id="268" r:id="R3e77b26b7f8d4849"/>
    <p:sldId xmlns:r="http://schemas.openxmlformats.org/officeDocument/2006/relationships" id="269" r:id="R37bf1558f1614068"/>
    <p:sldId xmlns:r="http://schemas.openxmlformats.org/officeDocument/2006/relationships" id="270" r:id="Rcc40665a7f8c41db"/>
    <p:sldId xmlns:r="http://schemas.openxmlformats.org/officeDocument/2006/relationships" id="271" r:id="R2cee52428e7342ce"/>
    <p:sldId xmlns:r="http://schemas.openxmlformats.org/officeDocument/2006/relationships" id="272" r:id="Rf15e7acd955c4565"/>
    <p:sldId xmlns:r="http://schemas.openxmlformats.org/officeDocument/2006/relationships" id="273" r:id="R350cac7c23f34c1c"/>
    <p:sldId xmlns:r="http://schemas.openxmlformats.org/officeDocument/2006/relationships" id="274" r:id="R291e4e3b390345a0"/>
    <p:sldId xmlns:r="http://schemas.openxmlformats.org/officeDocument/2006/relationships" id="275" r:id="R48a70724b56f4548"/>
    <p:sldId xmlns:r="http://schemas.openxmlformats.org/officeDocument/2006/relationships" id="276" r:id="R39c01068ba984212"/>
    <p:sldId xmlns:r="http://schemas.openxmlformats.org/officeDocument/2006/relationships" id="277" r:id="Reec0d1c1f973447a"/>
    <p:sldId xmlns:r="http://schemas.openxmlformats.org/officeDocument/2006/relationships" id="278" r:id="R379ddee15b7b40cd"/>
    <p:sldId xmlns:r="http://schemas.openxmlformats.org/officeDocument/2006/relationships" id="279" r:id="R2c7ac44107944862"/>
    <p:sldId xmlns:r="http://schemas.openxmlformats.org/officeDocument/2006/relationships" id="280" r:id="R05ad6ba155bf4114"/>
    <p:sldId xmlns:r="http://schemas.openxmlformats.org/officeDocument/2006/relationships" id="281" r:id="R0700d012d61d48d0"/>
    <p:sldId xmlns:r="http://schemas.openxmlformats.org/officeDocument/2006/relationships" id="282" r:id="Rcda5b2b04c724b4a"/>
    <p:sldId xmlns:r="http://schemas.openxmlformats.org/officeDocument/2006/relationships" id="283" r:id="R3ba3017b37e74da1"/>
    <p:sldId xmlns:r="http://schemas.openxmlformats.org/officeDocument/2006/relationships" id="284" r:id="Re1beea58154d41aa"/>
    <p:sldId xmlns:r="http://schemas.openxmlformats.org/officeDocument/2006/relationships" id="285" r:id="Rfa75818054a94afc"/>
    <p:sldId xmlns:r="http://schemas.openxmlformats.org/officeDocument/2006/relationships" id="286" r:id="Rc28edfe59168465f"/>
    <p:sldId xmlns:r="http://schemas.openxmlformats.org/officeDocument/2006/relationships" id="287" r:id="R2b977c34aec94faf"/>
    <p:sldId xmlns:r="http://schemas.openxmlformats.org/officeDocument/2006/relationships" id="288" r:id="R24d6be8f6d9444ae"/>
    <p:sldId xmlns:r="http://schemas.openxmlformats.org/officeDocument/2006/relationships" id="289" r:id="R8ddfe1cbd7df4661"/>
    <p:sldId xmlns:r="http://schemas.openxmlformats.org/officeDocument/2006/relationships" id="290" r:id="R03f780689f42499c"/>
    <p:sldId xmlns:r="http://schemas.openxmlformats.org/officeDocument/2006/relationships" id="291" r:id="R27d085b815da4407"/>
    <p:sldId xmlns:r="http://schemas.openxmlformats.org/officeDocument/2006/relationships" id="292" r:id="R04414f97b42f4789"/>
    <p:sldId xmlns:r="http://schemas.openxmlformats.org/officeDocument/2006/relationships" id="293" r:id="Refbda7cdc46b4d66"/>
    <p:sldId xmlns:r="http://schemas.openxmlformats.org/officeDocument/2006/relationships" id="294" r:id="Rd4a37fa7d3fb4d67"/>
    <p:sldId xmlns:r="http://schemas.openxmlformats.org/officeDocument/2006/relationships" id="295" r:id="R56680bb99b8b4e74"/>
    <p:sldId xmlns:r="http://schemas.openxmlformats.org/officeDocument/2006/relationships" id="296" r:id="R60e0b2bed1c54350"/>
    <p:sldId xmlns:r="http://schemas.openxmlformats.org/officeDocument/2006/relationships" id="297" r:id="R465ae577b9bf41d2"/>
    <p:sldId xmlns:r="http://schemas.openxmlformats.org/officeDocument/2006/relationships" id="298" r:id="Re100b0d991e34c8f"/>
    <p:sldId xmlns:r="http://schemas.openxmlformats.org/officeDocument/2006/relationships" id="299" r:id="R1d8aae12598a40eb"/>
    <p:sldId xmlns:r="http://schemas.openxmlformats.org/officeDocument/2006/relationships" id="300" r:id="Rb6ea6d90fb9b4e58"/>
    <p:sldId xmlns:r="http://schemas.openxmlformats.org/officeDocument/2006/relationships" id="301" r:id="Rb4e2ee524ef545a8"/>
    <p:sldId xmlns:r="http://schemas.openxmlformats.org/officeDocument/2006/relationships" id="302" r:id="R6b19dd9ea3df4c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9f2c58c5ee41a2" /><Relationship Type="http://schemas.openxmlformats.org/officeDocument/2006/relationships/slideMaster" Target="/ppt/slideMasters/slideMaster1.xml" Id="R0bca81434f594ee2" /><Relationship Type="http://schemas.openxmlformats.org/officeDocument/2006/relationships/notesMaster" Target="/ppt/notesMasters/notesMaster1.xml" Id="Rdfcd32f182394142" /><Relationship Type="http://schemas.openxmlformats.org/officeDocument/2006/relationships/presProps" Target="/ppt/presProps.xml" Id="R84ac8176edde42b4" /><Relationship Type="http://schemas.openxmlformats.org/officeDocument/2006/relationships/tableStyles" Target="/ppt/tableStyles.xml" Id="R12c7b84bd1124a2b" /><Relationship Type="http://schemas.openxmlformats.org/officeDocument/2006/relationships/slide" Target="/ppt/slides/slide1.xml" Id="R9acdd5d2aeef431b" /><Relationship Type="http://schemas.openxmlformats.org/officeDocument/2006/relationships/slide" Target="/ppt/slides/slide2.xml" Id="R4a7b91a0cff74e84" /><Relationship Type="http://schemas.openxmlformats.org/officeDocument/2006/relationships/slide" Target="/ppt/slides/slide3.xml" Id="R507d83e1da6742c6" /><Relationship Type="http://schemas.openxmlformats.org/officeDocument/2006/relationships/slide" Target="/ppt/slides/slide4.xml" Id="R528c68f048024ec9" /><Relationship Type="http://schemas.openxmlformats.org/officeDocument/2006/relationships/slide" Target="/ppt/slides/slide5.xml" Id="R5bd1c27528c94bdf" /><Relationship Type="http://schemas.openxmlformats.org/officeDocument/2006/relationships/slide" Target="/ppt/slides/slide6.xml" Id="Rdfa0aa44ed58481f" /><Relationship Type="http://schemas.openxmlformats.org/officeDocument/2006/relationships/slide" Target="/ppt/slides/slide7.xml" Id="Rd973d365d82e4803" /><Relationship Type="http://schemas.openxmlformats.org/officeDocument/2006/relationships/slide" Target="/ppt/slides/slide8.xml" Id="Rba43977b9b8a4e16" /><Relationship Type="http://schemas.openxmlformats.org/officeDocument/2006/relationships/slide" Target="/ppt/slides/slide9.xml" Id="R27d03205c76c4ce4" /><Relationship Type="http://schemas.openxmlformats.org/officeDocument/2006/relationships/slide" Target="/ppt/slides/slide10.xml" Id="R65633923bd374953" /><Relationship Type="http://schemas.openxmlformats.org/officeDocument/2006/relationships/slide" Target="/ppt/slides/slide11.xml" Id="Ra9155c38d0ad451e" /><Relationship Type="http://schemas.openxmlformats.org/officeDocument/2006/relationships/slide" Target="/ppt/slides/slide12.xml" Id="R101ae5cbe9ae4440" /><Relationship Type="http://schemas.openxmlformats.org/officeDocument/2006/relationships/slide" Target="/ppt/slides/slide13.xml" Id="R3e77b26b7f8d4849" /><Relationship Type="http://schemas.openxmlformats.org/officeDocument/2006/relationships/slide" Target="/ppt/slides/slide14.xml" Id="R37bf1558f1614068" /><Relationship Type="http://schemas.openxmlformats.org/officeDocument/2006/relationships/slide" Target="/ppt/slides/slide15.xml" Id="Rcc40665a7f8c41db" /><Relationship Type="http://schemas.openxmlformats.org/officeDocument/2006/relationships/slide" Target="/ppt/slides/slide16.xml" Id="R2cee52428e7342ce" /><Relationship Type="http://schemas.openxmlformats.org/officeDocument/2006/relationships/slide" Target="/ppt/slides/slide17.xml" Id="Rf15e7acd955c4565" /><Relationship Type="http://schemas.openxmlformats.org/officeDocument/2006/relationships/slide" Target="/ppt/slides/slide18.xml" Id="R350cac7c23f34c1c" /><Relationship Type="http://schemas.openxmlformats.org/officeDocument/2006/relationships/slide" Target="/ppt/slides/slide19.xml" Id="R291e4e3b390345a0" /><Relationship Type="http://schemas.openxmlformats.org/officeDocument/2006/relationships/slide" Target="/ppt/slides/slide20.xml" Id="R48a70724b56f4548" /><Relationship Type="http://schemas.openxmlformats.org/officeDocument/2006/relationships/slide" Target="/ppt/slides/slide21.xml" Id="R39c01068ba984212" /><Relationship Type="http://schemas.openxmlformats.org/officeDocument/2006/relationships/slide" Target="/ppt/slides/slide22.xml" Id="Reec0d1c1f973447a" /><Relationship Type="http://schemas.openxmlformats.org/officeDocument/2006/relationships/slide" Target="/ppt/slides/slide23.xml" Id="R379ddee15b7b40cd" /><Relationship Type="http://schemas.openxmlformats.org/officeDocument/2006/relationships/slide" Target="/ppt/slides/slide24.xml" Id="R2c7ac44107944862" /><Relationship Type="http://schemas.openxmlformats.org/officeDocument/2006/relationships/slide" Target="/ppt/slides/slide25.xml" Id="R05ad6ba155bf4114" /><Relationship Type="http://schemas.openxmlformats.org/officeDocument/2006/relationships/slide" Target="/ppt/slides/slide26.xml" Id="R0700d012d61d48d0" /><Relationship Type="http://schemas.openxmlformats.org/officeDocument/2006/relationships/slide" Target="/ppt/slides/slide27.xml" Id="Rcda5b2b04c724b4a" /><Relationship Type="http://schemas.openxmlformats.org/officeDocument/2006/relationships/slide" Target="/ppt/slides/slide28.xml" Id="R3ba3017b37e74da1" /><Relationship Type="http://schemas.openxmlformats.org/officeDocument/2006/relationships/slide" Target="/ppt/slides/slide29.xml" Id="Re1beea58154d41aa" /><Relationship Type="http://schemas.openxmlformats.org/officeDocument/2006/relationships/slide" Target="/ppt/slides/slide30.xml" Id="Rfa75818054a94afc" /><Relationship Type="http://schemas.openxmlformats.org/officeDocument/2006/relationships/slide" Target="/ppt/slides/slide31.xml" Id="Rc28edfe59168465f" /><Relationship Type="http://schemas.openxmlformats.org/officeDocument/2006/relationships/slide" Target="/ppt/slides/slide32.xml" Id="R2b977c34aec94faf" /><Relationship Type="http://schemas.openxmlformats.org/officeDocument/2006/relationships/slide" Target="/ppt/slides/slide33.xml" Id="R24d6be8f6d9444ae" /><Relationship Type="http://schemas.openxmlformats.org/officeDocument/2006/relationships/slide" Target="/ppt/slides/slide34.xml" Id="R8ddfe1cbd7df4661" /><Relationship Type="http://schemas.openxmlformats.org/officeDocument/2006/relationships/slide" Target="/ppt/slides/slide35.xml" Id="R03f780689f42499c" /><Relationship Type="http://schemas.openxmlformats.org/officeDocument/2006/relationships/slide" Target="/ppt/slides/slide36.xml" Id="R27d085b815da4407" /><Relationship Type="http://schemas.openxmlformats.org/officeDocument/2006/relationships/slide" Target="/ppt/slides/slide37.xml" Id="R04414f97b42f4789" /><Relationship Type="http://schemas.openxmlformats.org/officeDocument/2006/relationships/slide" Target="/ppt/slides/slide38.xml" Id="Refbda7cdc46b4d66" /><Relationship Type="http://schemas.openxmlformats.org/officeDocument/2006/relationships/slide" Target="/ppt/slides/slide39.xml" Id="Rd4a37fa7d3fb4d67" /><Relationship Type="http://schemas.openxmlformats.org/officeDocument/2006/relationships/slide" Target="/ppt/slides/slide40.xml" Id="R56680bb99b8b4e74" /><Relationship Type="http://schemas.openxmlformats.org/officeDocument/2006/relationships/slide" Target="/ppt/slides/slide41.xml" Id="R60e0b2bed1c54350" /><Relationship Type="http://schemas.openxmlformats.org/officeDocument/2006/relationships/slide" Target="/ppt/slides/slide42.xml" Id="R465ae577b9bf41d2" /><Relationship Type="http://schemas.openxmlformats.org/officeDocument/2006/relationships/slide" Target="/ppt/slides/slide43.xml" Id="Re100b0d991e34c8f" /><Relationship Type="http://schemas.openxmlformats.org/officeDocument/2006/relationships/slide" Target="/ppt/slides/slide44.xml" Id="R1d8aae12598a40eb" /><Relationship Type="http://schemas.openxmlformats.org/officeDocument/2006/relationships/slide" Target="/ppt/slides/slide45.xml" Id="Rb6ea6d90fb9b4e58" /><Relationship Type="http://schemas.openxmlformats.org/officeDocument/2006/relationships/slide" Target="/ppt/slides/slide46.xml" Id="Rb4e2ee524ef545a8" /><Relationship Type="http://schemas.openxmlformats.org/officeDocument/2006/relationships/slide" Target="/ppt/slides/slide47.xml" Id="R6b19dd9ea3df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13ee09210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c7ff854fb4306" /><Relationship Type="http://schemas.openxmlformats.org/officeDocument/2006/relationships/notesMaster" Target="/ppt/notesMasters/notesMaster1.xml" Id="Rcb016f920de2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e7e2d328e40b8" /><Relationship Type="http://schemas.openxmlformats.org/officeDocument/2006/relationships/notesMaster" Target="/ppt/notesMasters/notesMaster1.xml" Id="R584fdf73332d40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9208d9d214746" /><Relationship Type="http://schemas.openxmlformats.org/officeDocument/2006/relationships/notesMaster" Target="/ppt/notesMasters/notesMaster1.xml" Id="Rd2b3d140f79c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c2902a5ef14cff" /><Relationship Type="http://schemas.openxmlformats.org/officeDocument/2006/relationships/notesMaster" Target="/ppt/notesMasters/notesMaster1.xml" Id="Refd8faad62e9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77321cb5c4130" /><Relationship Type="http://schemas.openxmlformats.org/officeDocument/2006/relationships/notesMaster" Target="/ppt/notesMasters/notesMaster1.xml" Id="R4cd5bb4b97ef4d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71deb92f44ce7" /><Relationship Type="http://schemas.openxmlformats.org/officeDocument/2006/relationships/notesMaster" Target="/ppt/notesMasters/notesMaster1.xml" Id="R78648460b985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369a3a604458a" /><Relationship Type="http://schemas.openxmlformats.org/officeDocument/2006/relationships/notesMaster" Target="/ppt/notesMasters/notesMaster1.xml" Id="Recc80751816c40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181308737241fb" /><Relationship Type="http://schemas.openxmlformats.org/officeDocument/2006/relationships/notesMaster" Target="/ppt/notesMasters/notesMaster1.xml" Id="Re070b7a6e4bc45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b329a7476d42ed" /><Relationship Type="http://schemas.openxmlformats.org/officeDocument/2006/relationships/notesMaster" Target="/ppt/notesMasters/notesMaster1.xml" Id="Rf295d630a2824e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f3124240cd4cea" /><Relationship Type="http://schemas.openxmlformats.org/officeDocument/2006/relationships/notesMaster" Target="/ppt/notesMasters/notesMaster1.xml" Id="Rbb221c4df34048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0615c95f654d1d" /><Relationship Type="http://schemas.openxmlformats.org/officeDocument/2006/relationships/notesMaster" Target="/ppt/notesMasters/notesMaster1.xml" Id="Re899e03925ed4c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73ac127b704267" /><Relationship Type="http://schemas.openxmlformats.org/officeDocument/2006/relationships/notesMaster" Target="/ppt/notesMasters/notesMaster1.xml" Id="R712ced289b6b4a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68ff5f7f45404a" /><Relationship Type="http://schemas.openxmlformats.org/officeDocument/2006/relationships/notesMaster" Target="/ppt/notesMasters/notesMaster1.xml" Id="R6810b79aa7024c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d19595b84f4a01" /><Relationship Type="http://schemas.openxmlformats.org/officeDocument/2006/relationships/notesMaster" Target="/ppt/notesMasters/notesMaster1.xml" Id="Re0482cfdac4f47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5a6f8d5244436e" /><Relationship Type="http://schemas.openxmlformats.org/officeDocument/2006/relationships/notesMaster" Target="/ppt/notesMasters/notesMaster1.xml" Id="R7c883c8049c04e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07a28c60494976" /><Relationship Type="http://schemas.openxmlformats.org/officeDocument/2006/relationships/notesMaster" Target="/ppt/notesMasters/notesMaster1.xml" Id="Rd48637e7edc547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54fdc454a9499a" /><Relationship Type="http://schemas.openxmlformats.org/officeDocument/2006/relationships/notesMaster" Target="/ppt/notesMasters/notesMaster1.xml" Id="Rbb1f06d8541948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f9cc72d7f349eb" /><Relationship Type="http://schemas.openxmlformats.org/officeDocument/2006/relationships/notesMaster" Target="/ppt/notesMasters/notesMaster1.xml" Id="R4090f07fdda14e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3affd7e09945a7" /><Relationship Type="http://schemas.openxmlformats.org/officeDocument/2006/relationships/notesMaster" Target="/ppt/notesMasters/notesMaster1.xml" Id="R1ad2f55b14374e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6e8f14e5b64155" /><Relationship Type="http://schemas.openxmlformats.org/officeDocument/2006/relationships/notesMaster" Target="/ppt/notesMasters/notesMaster1.xml" Id="R509b7491907e4b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cf389408134213" /><Relationship Type="http://schemas.openxmlformats.org/officeDocument/2006/relationships/notesMaster" Target="/ppt/notesMasters/notesMaster1.xml" Id="R2240a0c7410c4a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cf63572e0c43b6" /><Relationship Type="http://schemas.openxmlformats.org/officeDocument/2006/relationships/notesMaster" Target="/ppt/notesMasters/notesMaster1.xml" Id="R452b84cc775040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5e8b43b65f4cca" /><Relationship Type="http://schemas.openxmlformats.org/officeDocument/2006/relationships/notesMaster" Target="/ppt/notesMasters/notesMaster1.xml" Id="Rf4ec168ba5624b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a59a49e5cd4b1d" /><Relationship Type="http://schemas.openxmlformats.org/officeDocument/2006/relationships/notesMaster" Target="/ppt/notesMasters/notesMaster1.xml" Id="R9fcfff38251b40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4e43d97bb9b44e0" /><Relationship Type="http://schemas.openxmlformats.org/officeDocument/2006/relationships/notesMaster" Target="/ppt/notesMasters/notesMaster1.xml" Id="R4aa1cc6a3a7143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f79f50e8d246a3" /><Relationship Type="http://schemas.openxmlformats.org/officeDocument/2006/relationships/notesMaster" Target="/ppt/notesMasters/notesMaster1.xml" Id="Rd9c3fcb988f140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03f36a8fea436f" /><Relationship Type="http://schemas.openxmlformats.org/officeDocument/2006/relationships/notesMaster" Target="/ppt/notesMasters/notesMaster1.xml" Id="Rfabd547040ec46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b389576fdd74c00" /><Relationship Type="http://schemas.openxmlformats.org/officeDocument/2006/relationships/notesMaster" Target="/ppt/notesMasters/notesMaster1.xml" Id="R92adfc732d5747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0bbc5b6f0e47a0" /><Relationship Type="http://schemas.openxmlformats.org/officeDocument/2006/relationships/notesMaster" Target="/ppt/notesMasters/notesMaster1.xml" Id="Rabcc13d170b140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89cbbba3d64232" /><Relationship Type="http://schemas.openxmlformats.org/officeDocument/2006/relationships/notesMaster" Target="/ppt/notesMasters/notesMaster1.xml" Id="R61c3287191db4d6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0c39e5d02f3462d" /><Relationship Type="http://schemas.openxmlformats.org/officeDocument/2006/relationships/notesMaster" Target="/ppt/notesMasters/notesMaster1.xml" Id="R103e1cb730f24e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d94deda4b74984" /><Relationship Type="http://schemas.openxmlformats.org/officeDocument/2006/relationships/notesMaster" Target="/ppt/notesMasters/notesMaster1.xml" Id="R778e743bad804d5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1a65b748a24da7" /><Relationship Type="http://schemas.openxmlformats.org/officeDocument/2006/relationships/notesMaster" Target="/ppt/notesMasters/notesMaster1.xml" Id="Rd8d16cc4f88748f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a7a702539a44a6" /><Relationship Type="http://schemas.openxmlformats.org/officeDocument/2006/relationships/notesMaster" Target="/ppt/notesMasters/notesMaster1.xml" Id="Rbea3604996064f5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e734ad22a8429a" /><Relationship Type="http://schemas.openxmlformats.org/officeDocument/2006/relationships/notesMaster" Target="/ppt/notesMasters/notesMaster1.xml" Id="R441926e34b9d448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17f4e25be6b45a2" /><Relationship Type="http://schemas.openxmlformats.org/officeDocument/2006/relationships/notesMaster" Target="/ppt/notesMasters/notesMaster1.xml" Id="R4369f126abc84ce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bd96fbdaa944b3" /><Relationship Type="http://schemas.openxmlformats.org/officeDocument/2006/relationships/notesMaster" Target="/ppt/notesMasters/notesMaster1.xml" Id="Rd1852f33d2aa403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c2cca9e93d0464f" /><Relationship Type="http://schemas.openxmlformats.org/officeDocument/2006/relationships/notesMaster" Target="/ppt/notesMasters/notesMaster1.xml" Id="R4750c37b0222408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c3ef73bcd5140ec" /><Relationship Type="http://schemas.openxmlformats.org/officeDocument/2006/relationships/notesMaster" Target="/ppt/notesMasters/notesMaster1.xml" Id="R4745d502932f447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84409a137ba4720" /><Relationship Type="http://schemas.openxmlformats.org/officeDocument/2006/relationships/notesMaster" Target="/ppt/notesMasters/notesMaster1.xml" Id="R98139cdac1ea4c9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a721bbfce4640f5" /><Relationship Type="http://schemas.openxmlformats.org/officeDocument/2006/relationships/notesMaster" Target="/ppt/notesMasters/notesMaster1.xml" Id="Rb92773e02354479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bd0b86a26a44566" /><Relationship Type="http://schemas.openxmlformats.org/officeDocument/2006/relationships/notesMaster" Target="/ppt/notesMasters/notesMaster1.xml" Id="Rd2af549aee4e4b3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9ac9e1d31194eba" /><Relationship Type="http://schemas.openxmlformats.org/officeDocument/2006/relationships/notesMaster" Target="/ppt/notesMasters/notesMaster1.xml" Id="R0d25b73b34b4451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cbf604a3e564032" /><Relationship Type="http://schemas.openxmlformats.org/officeDocument/2006/relationships/notesMaster" Target="/ppt/notesMasters/notesMaster1.xml" Id="R1c390c99cc2b465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61f67f3139d43b6" /><Relationship Type="http://schemas.openxmlformats.org/officeDocument/2006/relationships/notesMaster" Target="/ppt/notesMasters/notesMaster1.xml" Id="R5bfbd39c6b3f498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e27526c04554d6f" /><Relationship Type="http://schemas.openxmlformats.org/officeDocument/2006/relationships/notesMaster" Target="/ppt/notesMasters/notesMaster1.xml" Id="Rad449def9fa049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3e7c07ce5474b8a" /><Relationship Type="http://schemas.openxmlformats.org/officeDocument/2006/relationships/notesMaster" Target="/ppt/notesMasters/notesMaster1.xml" Id="R03246dc0ff6a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на полный квартал. Факт октября на дату защиты в файлах не выделен.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статьям: C:E, строки 25, 41, 55/56, 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Привлечение = лидген + агентские комиссии. Бренд, содержание и оформление показаны отдельно.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продаж (источник): C6:E7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Договоры: 393,414 млн ₽. Эскроу: 268,683 млн ₽. Доступные компании деньги финансовая служба подтверждает отдельно.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статьям: лидген + комиссии, C:E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октябрь в плане. Остаток к оплате нельзя определить без факта и реестра принятых обязательств.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статьям: C:E, строки 25, 41, 51/52, 55/56, 69, 78, 82, 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27,868 млн ₽ без ФОТ. С субсидиями 29,085 млн ₽. Нули ФОТ в файлах означают незаполненный расчёт.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Уточнение пользователя + расчёт от суммы лидгена и комиссий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сравнения 18,298 млн ₽. Перенос из лидгена в комиссии 2,701 млн ₽. Бренд и содержание в эту базу не входят.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+ budget_q4_2026.json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Оба расчёта сохранены. Исходные таблицы не изменены.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Параметры B5:B6 + Бюджет по статьям C6:E6, C55:E55 / C56:E56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Резерв рассчитывается от плана. Выплаты привязать к подтверждённым агентским сделкам и договорным условиям.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 — факт по месяцам F11:F13 + Параметры B5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Доли сделок и выручки имеют разные базы. У Пьермонта модель зависит от восстановления агентского канала.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C17:E25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Суммы из файлов. Результат услуг и тарифы подрядчиков раскрыты в расчётной записке. Нулевые статьи не включены.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C17:E25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Суммы из файлов. Результат услуг и тарифы подрядчиков раскрыты в расчётной записке. Нулевые статьи не включены.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C31:E41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Зари PR для риелторов 200 тыс. ₽ в ноябре входит в бренд. У Пьермонта медийка ноября и декабря задана вручную.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C31:E41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Зари PR для риелторов 200 тыс. ₽ в ноябре входит в бренд. У Пьермонта медийка ноября и декабря задана вручную.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C48:E84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«Прочее»: 450 тыс. ₽ по Заре и 600 тыс. ₽ по Пьермонту. До детализации сумма условная.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статьям: C14:E17, C30:E31, C48:E49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Расхождения не исправлены скрыто. Они вынесены на отдельное решение.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Параметры, Модель лидов C11:E13, База — факт по месяцам F4/F6 и F12/F6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Исторический CPL включает весь маркетинг. Он не доказывает стоимость лида Директа.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по статьям C14:E17 + арифметика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82,5 лида × 6% = 4,95 ожидаемой сделки до учёта лага. Модель требует 6 сделок и резерв лидов.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 — факт по месяцам F6:F19 + Параметры B7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агрегатные отношения за период. Когортная конверсия и срок сделки в таблицах не раскрыты.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от квартальных сумм и плана квартир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содержит дробные квартирные эквиваленты. Показатели условны до выполнения плана и не доказывают окупаемость.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CR: 19/455 и 11/389. Лиды: округление вверх(6/CR × 1,15).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Математический сценарий, не прогноз. У Пьермонта текущий бюджет ещё не финансирует сами 117 лидов.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Квартальные суммы коммерческих расходов и бренда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Показан стресс-тест. Это не согласованный план отключений. Комиссии за состоявшиеся сделки защищены условиями договоров.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Исследование: S25, S26, S28, S29, S30</a:t>
            </a:r>
          </a:p>
          <a:p xmlns:a="http://schemas.openxmlformats.org/drawingml/2006/main">
            <a:r>
              <a:t>S25: МИР КВАРТИР: июль 2026 https://www.mirkvartir.ru/journal/analytics/2026/08/04/novostrojki-v-iyule/</a:t>
            </a:r>
          </a:p>
          <a:p xmlns:a="http://schemas.openxmlformats.org/drawingml/2006/main">
            <a:r>
              <a:t>S26: МИР КВАРТИР: август 2026 https://www.mirkvartir.ru/journal/analytics/2026/09/02/novostrojki-v/</a:t>
            </a:r>
          </a:p>
          <a:p xmlns:a="http://schemas.openxmlformats.org/drawingml/2006/main">
            <a:r>
              <a:t>S28: Банк России: региональное количество ИЖК https://www.cbr.ru/vfs/statistics/BankSector/Mortgage/02_10_Quantity_mortgage.xlsx</a:t>
            </a:r>
          </a:p>
          <a:p xmlns:a="http://schemas.openxmlformats.org/drawingml/2006/main">
            <a:r>
              <a:t>S29: Банк России: региональное количество ИЖК под ДДУ https://www.cbr.ru/vfs/statistics/BankSector/Mortgage/02_15_Quantity_scpa_mortgage.xlsx</a:t>
            </a:r>
          </a:p>
          <a:p xmlns:a="http://schemas.openxmlformats.org/drawingml/2006/main">
            <a:r>
              <a:t>S30: Банк России: ставки ИЖК под ДДУ https://www.cbr.ru/vfs/statistics/BankSector/Mortgage/02_17_Rates_scpa_mortgage.xlsx</a:t>
            </a:r>
          </a:p>
          <a:p xmlns:a="http://schemas.openxmlformats.org/drawingml/2006/main">
            <a:r>
              <a:t>Цены предложения +0,98% за август. Региональная ипотека не равна продажам Уфы.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HART, лист Помещения. Тип Квартира, статус Свободно.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Остальные типы помещений исключены. Дата актуализации самого реестра не указана.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HART, лист Помещения. Тип Квартира, статус Свободно.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Медиана ассортимента отличается от среднего чека продаж. Максимумы не сравниваются без метража.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HART, лист Помещения. Тип Квартира, статус Свободно.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 10 млн ₽: Заря 136 квартир, Пьермонт 27. От 15 млн ₽: половина свободного предложения Пьермонта.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 + S06, S08, S14, S18. apartment_price_comparison.json</a:t>
            </a:r>
          </a:p>
          <a:p xmlns:a="http://schemas.openxmlformats.org/drawingml/2006/main">
            <a:r>
              <a:t>S06: Атлантис, Яндекс Недвижимость https://realty.yandex.ru/ufa/kupit/novostrojka/atlantis-3994529/</a:t>
            </a:r>
          </a:p>
          <a:p xmlns:a="http://schemas.openxmlformats.org/drawingml/2006/main">
            <a:r>
              <a:t>S08: Холмогоры, официальный сайт ГК Стратег https://gkstrateg.ru/project/zhk-holmogory</a:t>
            </a:r>
          </a:p>
          <a:p xmlns:a="http://schemas.openxmlformats.org/drawingml/2006/main">
            <a:r>
              <a:t>S14: Родина Парк, каталог https://tretiitrest.ru/flats/</a:t>
            </a:r>
          </a:p>
          <a:p xmlns:a="http://schemas.openxmlformats.org/drawingml/2006/main">
            <a:r>
              <a:t>S18: Динамика, подбор квартир https://dinamica-ufa.ru/vybor-po-parametram/</a:t>
            </a:r>
          </a:p>
          <a:p xmlns:a="http://schemas.openxmlformats.org/drawingml/2006/main">
            <a:r>
              <a:t>Метраж и форматы различаются. Разница входного чека не является премией за одинаковую квартиру.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 + S06, S13, S18, S36. Цена предложения, не цена сделки.</a:t>
            </a:r>
          </a:p>
          <a:p xmlns:a="http://schemas.openxmlformats.org/drawingml/2006/main">
            <a:r>
              <a:t>S06: Атлантис, Яндекс Недвижимость https://realty.yandex.ru/ufa/kupit/novostrojka/atlantis-3994529/</a:t>
            </a:r>
          </a:p>
          <a:p xmlns:a="http://schemas.openxmlformats.org/drawingml/2006/main">
            <a:r>
              <a:t>S13: Родина Парк, лот 229 https://tretiitrest.ru/flats/393_229/</a:t>
            </a:r>
          </a:p>
          <a:p xmlns:a="http://schemas.openxmlformats.org/drawingml/2006/main">
            <a:r>
              <a:t>S18: Динамика, подбор квартир https://dinamica-ufa.ru/vybor-po-parametram/</a:t>
            </a:r>
          </a:p>
          <a:p xmlns:a="http://schemas.openxmlformats.org/drawingml/2006/main">
            <a:r>
              <a:t>S36: Высота: объявление 59,5 м² на Рудольфа Нуреева,16 https://m2.ru/respublika-bashkortostan/nedvizhimost/prodazha-3-komnatnoi-kvartiri-59-5-m-9-25-etazh-8394f0d5-267f-475b-9b1a-682afa9d8cfa/</a:t>
            </a:r>
          </a:p>
          <a:p xmlns:a="http://schemas.openxmlformats.org/drawingml/2006/main">
            <a:r>
              <a:t>Посчитаны все свободные квартиры HART не дороже ориентира. Это не подбор аналогов по комнатности и метражу.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S13, S18, S36. Ремонт, готовность и классификация комнат различаются.</a:t>
            </a:r>
          </a:p>
          <a:p xmlns:a="http://schemas.openxmlformats.org/drawingml/2006/main">
            <a:r>
              <a:t>S13: Родина Парк, лот 229 https://tretiitrest.ru/flats/393_229/</a:t>
            </a:r>
          </a:p>
          <a:p xmlns:a="http://schemas.openxmlformats.org/drawingml/2006/main">
            <a:r>
              <a:t>S18: Динамика, подбор квартир https://dinamica-ufa.ru/vybor-po-parametram/</a:t>
            </a:r>
          </a:p>
          <a:p xmlns:a="http://schemas.openxmlformats.org/drawingml/2006/main">
            <a:r>
              <a:t>S36: Высота: объявление 59,5 м² на Рудольфа Нуреева,16 https://m2.ru/respublika-bashkortostan/nedvizhimost/prodazha-3-komnatnoi-kvartiri-59-5-m-9-25-etazh-8394f0d5-267f-475b-9b1a-682afa9d8cfa/</a:t>
            </a:r>
          </a:p>
          <a:p xmlns:a="http://schemas.openxmlformats.org/drawingml/2006/main">
            <a:r>
              <a:t>Цены и площади относятся к одному лоту. Для HART такой расчёт потребует площади конкретной квартиры.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S22, S23, S36. Подробная проверка: research/apartment_price_comparison.md</a:t>
            </a:r>
          </a:p>
          <a:p xmlns:a="http://schemas.openxmlformats.org/drawingml/2006/main">
            <a:r>
              <a:t>S22: Высота, ЕИСЖС, дом 13410 https://xn--80az8a.xn--d1aqf.xn--p1ai/сервисы/каталог-новостроек/объект/13410</a:t>
            </a:r>
          </a:p>
          <a:p xmlns:a="http://schemas.openxmlformats.org/drawingml/2006/main">
            <a:r>
              <a:t>S23: Высота, адрес на 2ГИС https://2gis.ru/ufa/geo/70030076165439923</a:t>
            </a:r>
          </a:p>
          <a:p xmlns:a="http://schemas.openxmlformats.org/drawingml/2006/main">
            <a:r>
              <a:t>S36: Высота: объявление 59,5 м² на Рудольфа Нуреева,16 https://m2.ru/respublika-bashkortostan/nedvizhimost/prodazha-3-komnatnoi-kvartiri-59-5-m-9-25-etazh-8394f0d5-267f-475b-9b1a-682afa9d8cfa/</a:t>
            </a:r>
          </a:p>
          <a:p xmlns:a="http://schemas.openxmlformats.org/drawingml/2006/main">
            <a:r>
              <a:t>Объявления с описанием другого ЖК или другого адреса не включены в сравнение.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 + предыдущий срез S04, S05. Не интерпретировать как изменение цены.</a:t>
            </a:r>
          </a:p>
          <a:p xmlns:a="http://schemas.openxmlformats.org/drawingml/2006/main">
            <a:r>
              <a:t>S04: Заря, Яндекс Недвижимость https://realty.yandex.ru/ufa/kupit/novostrojka/zarya-4544555/</a:t>
            </a:r>
          </a:p>
          <a:p xmlns:a="http://schemas.openxmlformats.org/drawingml/2006/main">
            <a:r>
              <a:t>S05: Пьермонт, Яндекс Недвижимость https://realty.yandex.ru/ufa/kupit/novostrojka/permont-4080787/</a:t>
            </a:r>
          </a:p>
          <a:p xmlns:a="http://schemas.openxmlformats.org/drawingml/2006/main">
            <a:r>
              <a:t>Для новых собственных цен используется реестр. Разные статусы и даты обновления могут давать разные минимумы.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HART + сценарий affordability_scenarios.json. S32, S33.</a:t>
            </a:r>
          </a:p>
          <a:p xmlns:a="http://schemas.openxmlformats.org/drawingml/2006/main">
            <a:r>
              <a:t>S32: ДОМ.РФ: семейная ипотека https://xn--d1aqf.xn--p1ai/mortgage/family-mortgage/</a:t>
            </a:r>
          </a:p>
          <a:p xmlns:a="http://schemas.openxmlformats.org/drawingml/2006/main">
            <a:r>
              <a:t>S33: Банк ДОМ.РФ: семейная ипотека https://domrfbank.ru/mortgage/programs/family-mortgage/</a:t>
            </a:r>
          </a:p>
          <a:p xmlns:a="http://schemas.openxmlformats.org/drawingml/2006/main">
            <a:r>
              <a:t>Лимит кредита 6 млн ₽, взнос ≥20,1%. Комнатность медианы неизвестна. Право на льготу проверяется индивидуально.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Рекомендации по исследованию и составу бюджета Зари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Ожидаемый эффект действий требует проверки. Заранее утверждается стоимость сделки и срок оценки.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Пьермонта + историческая воронка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Исторически собственный ОП дал 11 из 13 сделок. Восстановление агентского канала ещё нужно доказать.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CEO №5, №8, №22, №23 + границы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Расходы 2027 года в запрос не включены. Лаг результата может выходить за границу квартала.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Квартальные суммы и выявленные расхождения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Утверждение лимита не равно доказательству эффективности. Неподтверждённые статьи имеют условный статус.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пользователя + бюджеты C:E + исследование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Подробный ответ и основания находятся в расчётной записке.</a:t>
            </a:r>
          </a:p>
          <a:p xmlns:a="http://schemas.openxmlformats.org/drawingml/2006/main">
            <a:r>
              <a:t>Дата подготовки 14.10.2026. Бюджет: только октябрь, ноябрь, декабрь 2026.</a:t>
            </a:r>
          </a:p>
          <a:p xmlns:a="http://schemas.openxmlformats.org/drawingml/2006/main">
            <a:r>
              <a:t>Источники финансов: предоставленные снимки Бюджетирование_ЖК_Заря_2026_2029.xlsx и Бюджетирование_ЖК_Пьермонт_2026_2029.xlsx.</a:t>
            </a:r>
          </a:p>
          <a:p xmlns:a="http://schemas.openxmlformats.org/drawingml/2006/main">
            <a:r>
              <a:t>Полные ответы: research/budget_defense_q4_2026.md. Источники рынка: data/source_registry.json.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76ee1bed04c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3155f66264e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7134ad0b4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ca133fb864a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c3e652d0242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9e5d1535c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9B9CE-98DB-4554-B419-23722D20D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7826B3-9B97-423D-AE3A-7B3D310DCC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73B0CA-87D0-43FA-9DEE-DF9F4ACC4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7DDA16-5C66-4A72-AE0B-457A3D445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7FE866-4236-4C93-ADCD-5977F7910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D9FAC1-23D1-455C-867C-F40100B95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FCC825-6CE4-4DA8-8C62-C105BF221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26F775-9299-4203-948B-AB61B2B3F9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0A54D-0C07-4470-800E-D3D37C8B1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14FE0C-613E-427C-908A-099EB485A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a7377e45046ee" /><Relationship Type="http://schemas.openxmlformats.org/officeDocument/2006/relationships/slideLayout" Target="/ppt/slideLayouts/slideLayout1.xml" Id="Rd2cb0f71a55f425c" /><Relationship Type="http://schemas.openxmlformats.org/officeDocument/2006/relationships/slideLayout" Target="/ppt/slideLayouts/slideLayout2.xml" Id="R6005259e80524fe9" /><Relationship Type="http://schemas.openxmlformats.org/officeDocument/2006/relationships/slideLayout" Target="/ppt/slideLayouts/slideLayout3.xml" Id="Rfa7ccd4429614c10" /><Relationship Type="http://schemas.openxmlformats.org/officeDocument/2006/relationships/slideLayout" Target="/ppt/slideLayouts/slideLayout4.xml" Id="Rd1955d7995154fe6" /><Relationship Type="http://schemas.openxmlformats.org/officeDocument/2006/relationships/slideLayout" Target="/ppt/slideLayouts/slideLayout5.xml" Id="Rff7802e6e2674d05" /><Relationship Type="http://schemas.openxmlformats.org/officeDocument/2006/relationships/slideLayout" Target="/ppt/slideLayouts/slideLayout6.xml" Id="R45ab851363ff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b0f71a55f425c"/>
    <p:sldLayoutId xmlns:r="http://schemas.openxmlformats.org/officeDocument/2006/relationships" id="2147483650" r:id="R6005259e80524fe9"/>
    <p:sldLayoutId xmlns:r="http://schemas.openxmlformats.org/officeDocument/2006/relationships" id="2147483651" r:id="Rfa7ccd4429614c10"/>
    <p:sldLayoutId xmlns:r="http://schemas.openxmlformats.org/officeDocument/2006/relationships" id="2147483652" r:id="Rd1955d7995154fe6"/>
    <p:sldLayoutId xmlns:r="http://schemas.openxmlformats.org/officeDocument/2006/relationships" id="2147483653" r:id="Rff7802e6e2674d05"/>
    <p:sldLayoutId xmlns:r="http://schemas.openxmlformats.org/officeDocument/2006/relationships" id="2147483654" r:id="R45ab851363ff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602dcd5a54d5f" /><Relationship Type="http://schemas.openxmlformats.org/officeDocument/2006/relationships/notesSlide" Target="/ppt/notesSlides/notesSlide1.xml" Id="R179c177618e2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d2a39503d413f" /><Relationship Type="http://schemas.openxmlformats.org/officeDocument/2006/relationships/notesSlide" Target="/ppt/notesSlides/notesSlide2.xml" Id="R1bd6c2f4f19141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6b019116f45fc" /><Relationship Type="http://schemas.openxmlformats.org/officeDocument/2006/relationships/notesSlide" Target="/ppt/notesSlides/notesSlide3.xml" Id="R0abd68a6d2c04e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c04265adb45af" /><Relationship Type="http://schemas.openxmlformats.org/officeDocument/2006/relationships/notesSlide" Target="/ppt/notesSlides/notesSlide4.xml" Id="R3e260f8e457b4f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94b95f95a428b" /><Relationship Type="http://schemas.openxmlformats.org/officeDocument/2006/relationships/notesSlide" Target="/ppt/notesSlides/notesSlide5.xml" Id="R1295aee3b79649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a53907d254688" /><Relationship Type="http://schemas.openxmlformats.org/officeDocument/2006/relationships/notesSlide" Target="/ppt/notesSlides/notesSlide6.xml" Id="Rb9993d695392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35b8d61244962" /><Relationship Type="http://schemas.openxmlformats.org/officeDocument/2006/relationships/notesSlide" Target="/ppt/notesSlides/notesSlide7.xml" Id="R9fa868772728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693fa1e614836" /><Relationship Type="http://schemas.openxmlformats.org/officeDocument/2006/relationships/notesSlide" Target="/ppt/notesSlides/notesSlide8.xml" Id="R2b71d8de296840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48d8b4e0a4a4e" /><Relationship Type="http://schemas.openxmlformats.org/officeDocument/2006/relationships/notesSlide" Target="/ppt/notesSlides/notesSlide9.xml" Id="R2a8bcf3edb324a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e0c32dc944654" /><Relationship Type="http://schemas.openxmlformats.org/officeDocument/2006/relationships/notesSlide" Target="/ppt/notesSlides/notesSlide10.xml" Id="Rd7728fb9c34a4a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5db66a8344b5a" /><Relationship Type="http://schemas.openxmlformats.org/officeDocument/2006/relationships/notesSlide" Target="/ppt/notesSlides/notesSlide11.xml" Id="R42b21320dbd04d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4b2d3ce5b4b77" /><Relationship Type="http://schemas.openxmlformats.org/officeDocument/2006/relationships/notesSlide" Target="/ppt/notesSlides/notesSlide12.xml" Id="R05926fd7c2f744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32d30c0e04eed" /><Relationship Type="http://schemas.openxmlformats.org/officeDocument/2006/relationships/notesSlide" Target="/ppt/notesSlides/notesSlide13.xml" Id="Rb7155e7911794f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5408b4e714e3e" /><Relationship Type="http://schemas.openxmlformats.org/officeDocument/2006/relationships/notesSlide" Target="/ppt/notesSlides/notesSlide14.xml" Id="R1287debd6e9b4b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0dd79bc834b92" /><Relationship Type="http://schemas.openxmlformats.org/officeDocument/2006/relationships/notesSlide" Target="/ppt/notesSlides/notesSlide15.xml" Id="R53945be1e4aa40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037ab62ce4a77" /><Relationship Type="http://schemas.openxmlformats.org/officeDocument/2006/relationships/notesSlide" Target="/ppt/notesSlides/notesSlide16.xml" Id="R1a367fcd167241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fa95b72a84369" /><Relationship Type="http://schemas.openxmlformats.org/officeDocument/2006/relationships/notesSlide" Target="/ppt/notesSlides/notesSlide17.xml" Id="R7422ea03f8b743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e70e499f8446c" /><Relationship Type="http://schemas.openxmlformats.org/officeDocument/2006/relationships/notesSlide" Target="/ppt/notesSlides/notesSlide18.xml" Id="R2a3ed65de7d146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27aca490b4523" /><Relationship Type="http://schemas.openxmlformats.org/officeDocument/2006/relationships/notesSlide" Target="/ppt/notesSlides/notesSlide19.xml" Id="R3f859bf0230e4b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1de2f4709405d" /><Relationship Type="http://schemas.openxmlformats.org/officeDocument/2006/relationships/notesSlide" Target="/ppt/notesSlides/notesSlide20.xml" Id="R81b47426bdc746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95fd0a346429d" /><Relationship Type="http://schemas.openxmlformats.org/officeDocument/2006/relationships/notesSlide" Target="/ppt/notesSlides/notesSlide21.xml" Id="R8bdd14c5946f46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f0b521a64448e" /><Relationship Type="http://schemas.openxmlformats.org/officeDocument/2006/relationships/notesSlide" Target="/ppt/notesSlides/notesSlide22.xml" Id="R4d6566cc0b2042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7db7bb3f84ff0" /><Relationship Type="http://schemas.openxmlformats.org/officeDocument/2006/relationships/notesSlide" Target="/ppt/notesSlides/notesSlide23.xml" Id="R6f32e4b145924df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8f9915fa745ee" /><Relationship Type="http://schemas.openxmlformats.org/officeDocument/2006/relationships/notesSlide" Target="/ppt/notesSlides/notesSlide24.xml" Id="R1a5a43cbce0c42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7498cbb7b4c6c" /><Relationship Type="http://schemas.openxmlformats.org/officeDocument/2006/relationships/notesSlide" Target="/ppt/notesSlides/notesSlide25.xml" Id="R07f8495c376e43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882c0fe704570" /><Relationship Type="http://schemas.openxmlformats.org/officeDocument/2006/relationships/notesSlide" Target="/ppt/notesSlides/notesSlide26.xml" Id="R464de2f4845840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1022c19eb4abe" /><Relationship Type="http://schemas.openxmlformats.org/officeDocument/2006/relationships/notesSlide" Target="/ppt/notesSlides/notesSlide27.xml" Id="Rc2f7d8c6fc864a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3d197fbef4af1" /><Relationship Type="http://schemas.openxmlformats.org/officeDocument/2006/relationships/notesSlide" Target="/ppt/notesSlides/notesSlide28.xml" Id="R9912cf6d500e4f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37f5e314e495d" /><Relationship Type="http://schemas.openxmlformats.org/officeDocument/2006/relationships/notesSlide" Target="/ppt/notesSlides/notesSlide29.xml" Id="R9b24c0b2379849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9eb886f284c11" /><Relationship Type="http://schemas.openxmlformats.org/officeDocument/2006/relationships/notesSlide" Target="/ppt/notesSlides/notesSlide30.xml" Id="R288e97408b2349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c79ec1022436b" /><Relationship Type="http://schemas.openxmlformats.org/officeDocument/2006/relationships/notesSlide" Target="/ppt/notesSlides/notesSlide31.xml" Id="R00e6bd469fea43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316f4d58d4171" /><Relationship Type="http://schemas.openxmlformats.org/officeDocument/2006/relationships/notesSlide" Target="/ppt/notesSlides/notesSlide32.xml" Id="R85fdee34569d41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e98698c214576" /><Relationship Type="http://schemas.openxmlformats.org/officeDocument/2006/relationships/notesSlide" Target="/ppt/notesSlides/notesSlide33.xml" Id="R8804069c762046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991b525b44aff" /><Relationship Type="http://schemas.openxmlformats.org/officeDocument/2006/relationships/notesSlide" Target="/ppt/notesSlides/notesSlide34.xml" Id="R809595e3d4294d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837e7615c4f7e" /><Relationship Type="http://schemas.openxmlformats.org/officeDocument/2006/relationships/notesSlide" Target="/ppt/notesSlides/notesSlide35.xml" Id="Rb692984c560140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12c3b3c3347d7" /><Relationship Type="http://schemas.openxmlformats.org/officeDocument/2006/relationships/notesSlide" Target="/ppt/notesSlides/notesSlide36.xml" Id="R1756de4b9bcc406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090796de44048" /><Relationship Type="http://schemas.openxmlformats.org/officeDocument/2006/relationships/notesSlide" Target="/ppt/notesSlides/notesSlide37.xml" Id="R8ad66cbf54054d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f7fbc95f94808" /><Relationship Type="http://schemas.openxmlformats.org/officeDocument/2006/relationships/notesSlide" Target="/ppt/notesSlides/notesSlide38.xml" Id="R195121e71d7a488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fe3873df64464" /><Relationship Type="http://schemas.openxmlformats.org/officeDocument/2006/relationships/notesSlide" Target="/ppt/notesSlides/notesSlide39.xml" Id="Rbe0ea06d40ac4b7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b223b14734606" /><Relationship Type="http://schemas.openxmlformats.org/officeDocument/2006/relationships/notesSlide" Target="/ppt/notesSlides/notesSlide40.xml" Id="R563b0ef60ecb499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5ecd07a3d42f8" /><Relationship Type="http://schemas.openxmlformats.org/officeDocument/2006/relationships/notesSlide" Target="/ppt/notesSlides/notesSlide41.xml" Id="R45bcf1c493ca49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fbd2ecfd64ecb" /><Relationship Type="http://schemas.openxmlformats.org/officeDocument/2006/relationships/notesSlide" Target="/ppt/notesSlides/notesSlide42.xml" Id="R5c93badb7a8143d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71d851f194e16" /><Relationship Type="http://schemas.openxmlformats.org/officeDocument/2006/relationships/notesSlide" Target="/ppt/notesSlides/notesSlide43.xml" Id="Rf0ae3bafa4b4494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119afd8584e7e" /><Relationship Type="http://schemas.openxmlformats.org/officeDocument/2006/relationships/notesSlide" Target="/ppt/notesSlides/notesSlide44.xml" Id="R5f9c028dc2694c9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17eacba09450a" /><Relationship Type="http://schemas.openxmlformats.org/officeDocument/2006/relationships/notesSlide" Target="/ppt/notesSlides/notesSlide45.xml" Id="R21f59c8631784eb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296b84d974f40" /><Relationship Type="http://schemas.openxmlformats.org/officeDocument/2006/relationships/notesSlide" Target="/ppt/notesSlides/notesSlide46.xml" Id="Ra76ee6474e1c452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553e0bc924fe7" /><Relationship Type="http://schemas.openxmlformats.org/officeDocument/2006/relationships/notesSlide" Target="/ppt/notesSlides/notesSlide47.xml" Id="Reebcee8a6f5a41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30344-D2C4-47AB-AFBD-FEF86F9A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Защита бюджета</a:t>
            </a:r>
          </a:p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октябрь–декабрь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BD1B8-607A-46A5-B034-16A8258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85336-8E9C-404D-8B13-857F589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План на полный квартал. Факт октября на дату защиты в файлах не выделен.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54C09-8D8A-4461-A876-F101AA47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ХартДевелопмент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8FF57-5F71-465A-8492-E854C40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 и Пьермонт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4AAD1-D354-43F7-A687-1B5FFFB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На привлечение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8FCEC-4832-458D-A78F-4582371C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18,298 млн ₽ по исходным файлам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F0CFA-F436-4079-81D5-1C4361C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5980D-4201-41BE-A568-245FE81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Месячные лимиты и условия расходования</a:t>
            </a:r>
          </a:p>
        </p:txBody>
      </p:sp>
    </p:spTree>
    <p:extLst>
      <p:ext uri="{BB962C8B-B14F-4D97-AF65-F5344CB8AC3E}">
        <p14:creationId xmlns:p14="http://schemas.microsoft.com/office/powerpoint/2010/main" val="647023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D4B30-3432-42F9-B705-495EC83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Запрос на квартал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25D3-083E-475E-BF2A-24ECF3A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53B84-4787-44AA-9561-B18CB4D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Привлечение = лидген + агентские комиссии. Бренд, содержание и оформление показаны отдельно.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8DFB6-2472-4502-9A25-4828FEF2E9FA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19300"/>
                <a:gridCol w="2019300"/>
                <a:gridCol w="20193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Лидогенерация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4,149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8,190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Комиссии агентам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3,756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6,352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10,108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Привлечение 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10,394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18,298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Бренд отдельно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2,049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Коммерческий блок без ФОТ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12,378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15,490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27,868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061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07A1B-B3B5-40AC-9FC9-66E684BC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План продаж и поступлений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9DA96-73EC-4D18-ABF8-EDE9817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19ED5-037B-4857-BA0C-CE7220E9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Договоры: 393,414 млн ₽. Эскроу: 268,683 млн ₽. Доступные компании деньги финансовая служба подтверждает отдельно.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6B48F-72A4-478D-8499-7391C3F26B2C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0225"/>
                <a:gridCol w="1800225"/>
                <a:gridCol w="1800225"/>
                <a:gridCol w="18002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Проект /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 / договоры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38,089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44,201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51,846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134,136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 / договоры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93,144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81,027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85,107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259,278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 / эскроу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24,758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28,730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33,700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87,188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 / эскроу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65,201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56,719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59,575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181,495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109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FCC90-4CDB-4974-A561-66214BD5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Помесячные лимиты привлечения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81C3B-F4CA-4720-9670-CE0D5151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3F45C-C245-4977-AF5D-7C8242E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Полный октябрь в плане. Остаток к оплате нельзя определить без факта и реестра принятых обязательств.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FB216-936F-4B4F-8D88-99B3C193860D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0225"/>
                <a:gridCol w="1800225"/>
                <a:gridCol w="1800225"/>
                <a:gridCol w="18002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2,620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2,835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3,432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10,394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6,079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5,953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6,267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18,298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76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5515F-C095-4127-A32C-2DCB188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Все расходы квартала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C3F8-1ADF-4A19-8E9C-CF81C275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84BC-E659-4AC1-A87A-13095D28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27,868 млн ₽ без ФОТ. С субсидиями 29,085 млн ₽. Нули ФОТ в файлах означают незаполненный расчёт.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183B4-B18F-4D1F-91FD-39021482BBC0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19300"/>
                <a:gridCol w="2019300"/>
                <a:gridCol w="2019300"/>
              </a:tblGrid>
              <a:tr h="53884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Привлечение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10,394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18,298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Бренд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2,049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1,561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2,665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4,225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Оформление сделок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Коммерческие без ФОТ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12,378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15,490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27,868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Субсидии вне итога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1,217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77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C963-200A-4570-8BC3-DB65ACD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70/30: исходные суммы и новое правило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AFCCD-0F87-4E2C-AFCD-FBC272B1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5FC7C-9546-4167-B225-2A2AF91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База сравнения 18,298 млн ₽. Перенос из лидгена в комиссии 2,701 млн ₽. Бренд и содержание в эту базу не входят.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58CF9-C560-4EE5-92E2-85B353F3E3AB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19300"/>
                <a:gridCol w="2019300"/>
                <a:gridCol w="20193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Агенты по файлам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3,756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6,352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10,108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Лидген по файлам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4,149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8,190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Агенты при 70% расходов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5,533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7,276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12,809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Лидген при 30% расходов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2,371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5,490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325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3A750-4997-459C-AF54-188EC92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Доли расходов по проектам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AF001-D4F9-410B-AD40-B808751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FD9E1-7D3B-4C6A-8DC5-B197731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Оба расчёта сохранены. Исходные таблицы не изменены.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C53C9-57A7-44C7-B13C-F07E88CA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Заря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59D4D-179F-4FE2-A5CE-3A9CF86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 файлу: агенты 47,5%, лидген 52,5%. При 70/30 лидген сокращается на 1,777 млн 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01189-84D0-49B4-8E0E-983535A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Пьермонт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37D11-022C-4F9B-8D02-EB85738B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 файлу: агенты 61,1%, лидген 38,9%. При 70/30 лидген сокращается на 0,923 млн 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1EA51-1960-4C3B-A221-823655E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34EBA-0DD1-49E9-BB4A-7158397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70/30 расходов требует нового плана воронки. Оно само по себе не обосновывает выплаты агентам.</a:t>
            </a:r>
          </a:p>
        </p:txBody>
      </p:sp>
    </p:spTree>
    <p:extLst>
      <p:ext uri="{BB962C8B-B14F-4D97-AF65-F5344CB8AC3E}">
        <p14:creationId xmlns:p14="http://schemas.microsoft.com/office/powerpoint/2010/main" val="957368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B9CC0-DE79-4070-86A6-718E982B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Защита агентских комиссий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5F95E-794C-49D3-BAA5-164094AC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BB524-B60E-42BE-8FF6-0606CA18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Резерв рассчитывается от плана. Выплаты привязать к подтверждённым агентским сделкам и договорным условиям.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2A772-62B6-4629-B8A0-C82D15E55A8E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95575"/>
                <a:gridCol w="26955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План продаж,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134,136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259,278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агентской выручки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Ставка от агентской выручки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Комиссии квартала,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3 755 807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6 352 321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Расход от всех продаж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16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BCD4-1D96-4909-ABF3-E482522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Агентский канал требует разных решений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F97E7-62A3-4699-B588-5170026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4D191-03D7-4FC8-A066-0534A973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Доли сделок и выручки имеют разные базы. У Пьермонта модель зависит от восстановления агентского канала.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E0360-7CA7-49AE-9A1C-CCA6590696E4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95575"/>
                <a:gridCol w="26955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Апрель–июль 2026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 сделки, шт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Агентские сделки, шт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агентов в числе сделок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83,3%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Модель: доля агентской выручки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857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DA88E-106C-4909-8D12-649D5C8C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Заря: состав лидогенерации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1E445-D899-4C39-86CB-0B28556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72E19-EE20-4437-B07E-43464BD0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Суммы из файлов. Результат услуг и тарифы подрядчиков раскрыты в расчётной записке. Нулевые статьи не включены.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D79B5-AC9D-4F70-91DF-EF4D4457CE99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676400"/>
                <a:gridCol w="1676400"/>
                <a:gridCol w="1676400"/>
                <a:gridCol w="1695450"/>
              </a:tblGrid>
              <a:tr h="471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Яндекс.Директ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2 340 000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Сопровождение digital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354 375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Классифайды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324 300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Реклама ВКонтакте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Ведение таргета ВКонтакте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86 625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86 625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86 625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259 875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Квиз и чат-лендинг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1 382 850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1 382 850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1 382 850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4 148 550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607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2A13-A1FD-49CD-8C38-D5438199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Пьермонт: состав лидогенерации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FC037-A264-49F3-B4FE-5063A4A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A7829-AFBA-4FB3-8ECB-9744B323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Суммы из файлов. Результат услуг и тарифы подрядчиков раскрыты в расчётной записке. Нулевые статьи не включены.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538DC-3D94-468D-B7F9-821EB3AD3A74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0225"/>
                <a:gridCol w="1800225"/>
                <a:gridCol w="1800225"/>
                <a:gridCol w="1800225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Яндекс.Директ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3 300 000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Сопровождение digital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139 125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139 125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139 125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417 375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Классифайды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324 300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1 347 225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1 347 225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1 347 225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4 041 675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10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69C88-315B-4A09-AB87-317A308A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Заря: бренд отдельно от лидгена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7F633-2FAF-45EA-86EE-753E4BC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2BDE-D1C7-47F4-A8F5-339FBF9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У Зари PR для риелторов 200 тыс. ₽ в ноябре входит в бренд. У Пьермонта медийка ноября и декабря задана вручную.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8C47-4BBC-45A1-A975-61F9C6EC6D76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676400"/>
                <a:gridCol w="1676400"/>
                <a:gridCol w="1676400"/>
                <a:gridCol w="1695450"/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Медийная реклама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Репутация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Креатив и продакшн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222 000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 и типография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 в СМИ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Работа с риелторами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2 049 000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406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9E4F8-6A08-42FC-A4A9-C28D20B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Пьермонт: бренд отдельно от лидгена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5C60E-9053-4188-9224-6114F89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E5880-CCAF-4120-9636-38DDC27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У Зари PR для риелторов 200 тыс. ₽ в ноябре входит в бренд. У Пьермонта медийка ноября и декабря задана вручную.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2F69A-7694-4A5C-B0BD-C22A38B858D9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676400"/>
                <a:gridCol w="1676400"/>
                <a:gridCol w="1676400"/>
                <a:gridCol w="1695450"/>
              </a:tblGrid>
              <a:tr h="471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Октябрь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Ноябрь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Медийная реклама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875 000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Репутация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Креатив и продакшн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 и типография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 в СМИ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1 991 000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077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92DDC-6D63-416D-B411-002970A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Расходы сверх привлечения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947CD-5A32-4621-B448-9567C5FD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BE9E-EA0F-4242-A3B8-5D42C8C6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«Прочее»: 450 тыс. ₽ по Заре и 600 тыс. ₽ по Пьермонту. До детализации сумма условная.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CFF98-FC6B-4F03-8AE5-ECDECFF5B260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647950"/>
                <a:gridCol w="26479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Содержание и инфраструктура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1 560 690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2 664 750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Оформление сделок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440 199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Субсидии вне коммерческого итога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416 667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ФОТ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Расчёт отсутствует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Расчёт отсутствует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65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7A920-8509-4579-8D4D-F458A17A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Цифры, которые требуют пояснения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3B504-2203-4EA8-82CD-BF02B5DF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02B47-CFB1-4428-B802-C0FF6B7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Расхождения не исправлены скрыто. Они вынесены на отдельное решение.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FEF6F-0C51-48C7-BCEC-C56C265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Пьермонт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F5F28-9FCB-49DB-8825-4394584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39 лидов × 40 тыс. ₽ = 1,560 млн ₽ Директа в месяц. В бюджете 1,100 млн ₽. Разрыв 460 тыс. 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15623-97F1-4611-990D-48EE619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Регистрация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19FB0-F7F9-4F2C-8223-4DBD62ED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Заря: 14 договоров в месяц при плане 5,01–6,47 квартиры. Пьермонт: добавка 8,5 договора без расшифровки.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329C9-7B3F-4EE8-A5A7-086D34C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Медийка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36005-DD05-4BCE-9C04-7276BE1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Пьермонт: 300 тыс. ₽ в ноябре и декабре вместо 275 тыс. ₽ по доле 25%. Отклонение 50 тыс. ₽ за квартал.</a:t>
            </a:r>
          </a:p>
        </p:txBody>
      </p:sp>
    </p:spTree>
    <p:extLst>
      <p:ext uri="{BB962C8B-B14F-4D97-AF65-F5344CB8AC3E}">
        <p14:creationId xmlns:p14="http://schemas.microsoft.com/office/powerpoint/2010/main" val="960393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5C231-0931-4A59-BEB9-FFB3D6E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Заря: логика модели лидов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306AD-E0AA-44EE-BE89-63F5324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E140C-E8BB-4AB1-871B-A1B31A4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Исторический CPL включает весь маркетинг. Он не доказывает стоимость лида Директа.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DE60C-43CA-4F63-9133-A6BE818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Исходная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DF4B5-C8A4-4784-91FF-E8E315C1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30% дохода / 8,5 млн ₽, округление до 2 сделок в месяц. Конверсия 6%, запас 15%.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633AC-0979-4A2D-823C-BE53839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CD4D1-AB31-429C-8A27-5FCCBDA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39 лидов в месяц, 117 в квартал. CPL Директа 20 тыс. ₽. Бюджет Директа 2,340 млн 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93B9E-8A6F-43EE-9E08-550A745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D5B8B-7F0A-4866-BF6B-1B8CBA2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6% выше исторических 4,18%. CPL 20 тыс. ₽ близок к 19,08 тыс. ₽ всего маркетинга на любой лид.</a:t>
            </a:r>
          </a:p>
        </p:txBody>
      </p:sp>
    </p:spTree>
    <p:extLst>
      <p:ext uri="{BB962C8B-B14F-4D97-AF65-F5344CB8AC3E}">
        <p14:creationId xmlns:p14="http://schemas.microsoft.com/office/powerpoint/2010/main" val="10207546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25BE9-BF97-4400-9EFB-CCDFDEFF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Пьермонт: три способа закрыть разрыв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3D3E0-C3BD-4105-AF7E-8CAA35B9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C1B70-40F7-4079-833A-E5C2A58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82,5 лида × 6% = 4,95 ожидаемой сделки до учёта лага. Модель требует 6 сделок и резерв лидов.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3E97B-1697-4506-BFF8-FC4D52678716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2524125"/>
                <a:gridCol w="38671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Вариант на квартал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Директ,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Условие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Сохранить расход файла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CPL ≤ 28 205 ₽ для 117 лидов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Сохранить CPL 40 000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82,5 лида без округления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Профинансировать 117 лидов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4,680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Добавить 1,380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0209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6F2F-AC90-4172-8733-0BB9BB8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Факт воронки и плановая конверсия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DA17E-451C-4333-81C1-D812E31B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F6C1E-5FBC-43CF-91BA-3FF6578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Это агрегатные отношения за период. Когортная конверсия и срок сделки в таблицах не раскрыты.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FE1A9-DEC6-4EDB-B207-E1E227C3BB54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95575"/>
                <a:gridCol w="26955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Апрель–июль 2026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Лидов / целевых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455 / 115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389 / 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Сделок своего ОП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Любой лид в сделку ОП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4,18%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2,83%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Плановая конверсия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Рост к историческому уровню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×1,44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×2,12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472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58AF4-A567-4F6E-A0C1-24E2E56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Стоимость продажи: два уровня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386EE-321B-4B72-9AD3-107938B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3C704-D2E0-4278-AC71-A76EB18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План содержит дробные квартирные эквиваленты. Показатели условны до выполнения плана и не доказывают окупаемость.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3AE6-6ABF-4B77-921E-45B3AC99E7C6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52700"/>
                <a:gridCol w="25527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Квартал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План квартир, эквивалент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17,10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19,90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Привлечение / квартира,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462 119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522 380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Коммерческие / квартира без ФОТ,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723 668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778 491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Лидген / 6 модельных сделок ОП,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691 425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673 613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776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801F4-8F66-4D4B-A3A2-74E47B9F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Неблагоприятный сценарий конверсии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380FD-D1B4-4449-89FE-6752B91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AC78-4492-45EF-8EA1-697647D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Математический сценарий, не прогноз. У Пьермонта текущий бюджет ещё не финансирует сами 117 лидов.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100F3-77CE-4948-A63E-FA7DDCBA4EF5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52700"/>
                <a:gridCol w="25527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117 лидах на проект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CR модели 6%, сделки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исторической CR, сделки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Лидов для 6 сделок + запас 15%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Директ при CPL модели,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3154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E9407-3887-40C2-9DAB-42F952D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Сокращение коммерческого бюджета на 20%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AB627-D7D6-428D-AC24-64CB80BE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21F3D-79DE-4838-A2B4-256FBBFA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Показан стресс-тест. Это не согласованный план отключений. Комиссии за состоявшиеся сделки защищены условиями договоров.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F92D5-8076-44B6-957F-388BD57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Сумма сокращения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356A1-5AD9-411F-9139-1A791D0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5,574 млн ₽ от 27,868 млн ₽ без ФОТ. Новый лимит 22,294 млн 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C1AC3-B939-43A5-B934-9A91F0A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Арифметический вариант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7463B-C07C-485F-A233-BBD48D0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Все брендовые 4,040 млн ₽ плюс 1,534 млн ₽ лидгена. Лидген остаётся 6,656 млн 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86E11-96C2-48F3-A562-E128454D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Последствие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C90C1-923A-4984-9750-503EB7B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Этот вариант требует проверки договоров и пересчёта воронки. Точную потерю продаж данные не определяют.</a:t>
            </a:r>
          </a:p>
        </p:txBody>
      </p:sp>
    </p:spTree>
    <p:extLst>
      <p:ext uri="{BB962C8B-B14F-4D97-AF65-F5344CB8AC3E}">
        <p14:creationId xmlns:p14="http://schemas.microsoft.com/office/powerpoint/2010/main" val="431313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F4C76-3B5C-4C09-B7AB-7B3F5FCD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Рынок усиливает требования к качеству спроса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1DE57-BF21-4F62-8967-E3D48E4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DA41D-29B7-41AC-B086-5D6835B6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Цены предложения +0,98% за август. Региональная ипотека не равна продажам Уфы.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7162F-2C7C-4FBA-9B03-C4BE5A0B1C55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14575"/>
                <a:gridCol w="2314575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Июль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Август 2026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Новостройки Уфы, ₽/м²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175 209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176 928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Ипотечные кредиты под ДДУ, Башкортостан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 ДДУ к августу 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−26,6%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5835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93D5D-59FD-4678-84EC-1D7647B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Квартиры HART: выборка для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E2A3-80EF-456C-A2CF-23CD3F9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A5440-D189-462D-82A2-F19422D5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Остальные типы помещений исключены. Дата актуализации самого реестра не указана.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51C0B-1595-4CEE-8302-DF5F413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Источник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50741-7D58-49D6-92A7-4469551D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Основной лист реестра. Тип «Квартира», статус «Свободно». Лист «Не нужно» полностью дублирует основной.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659D-A408-405E-86D2-F59170A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Выборка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5A62A-A94D-4874-BDAA-BC80084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479 свободных квартир: 219 Зари и 260 Пьермонта. Проданные и забронированные исключены.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16F81-C3DC-4F9D-BA74-5D9A0F0C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41229-FE7C-4B96-B227-9BD679DC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Площади и комнатности в реестре нет. Сравниваем полный чек и ценовой ассортимент.</a:t>
            </a:r>
          </a:p>
        </p:txBody>
      </p:sp>
    </p:spTree>
    <p:extLst>
      <p:ext uri="{BB962C8B-B14F-4D97-AF65-F5344CB8AC3E}">
        <p14:creationId xmlns:p14="http://schemas.microsoft.com/office/powerpoint/2010/main" val="2096871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39BB3-F4D7-4E00-B749-E383D49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Стоимость свободных квартир 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BE69-4230-4788-B6B8-C74BC41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7DEAF-4D8D-4A61-806B-6E7E4BB0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Медиана ассортимента отличается от среднего чека продаж. Максимумы не сравниваются без метража.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D0A10-8952-4895-B6A0-0F8C3C96AC7B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647950"/>
                <a:gridCol w="2647950"/>
              </a:tblGrid>
              <a:tr h="53884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 реестру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Количество квартир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Минимум,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7,648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Медиана,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9,248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Первый квартиль,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8,037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12,349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Третий квартиль,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11,388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16,620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Максимум,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14,497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35,565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0434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5350F-BF9F-448D-A038-283A881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Ценовой ассортимент квартир 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CD52B-D46A-44FA-B1F0-2AC59878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EBBBD-4233-4CD0-9467-6483A50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До 10 млн ₽: Заря 136 квартир, Пьермонт 27. От 15 млн ₽: половина свободного предложения Пьермонта.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97703-50C5-4B87-A630-0E5D48C486D7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714500"/>
                <a:gridCol w="1581150"/>
                <a:gridCol w="1847850"/>
                <a:gridCol w="15811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Полная цена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Заря, шт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Пьермонт, шт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8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24,7%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8–10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37,4%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10–12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32,0%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12–15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28,1%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 15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50,0%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8702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0868-841B-4D54-9A32-EB78FDCA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Сравнение входного бюджета покупки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B7CEB-BCB5-4A6A-BF82-2E8C6759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8DF64-9C2B-4FF1-AB43-C987D279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Метраж и форматы различаются. Разница входного чека не является премией за одинаковую квартиру.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8AF90-6AA8-469D-937D-DC32F6837068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571750"/>
                <a:gridCol w="4819650"/>
              </a:tblGrid>
              <a:tr h="53884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 от,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Основание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Минимум свободных из реестра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7,648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Минимум свободных из реестра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Холмогоры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Рекламный вход, без номера лота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Динамика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5,480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Публичный лот, 28,03 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5,900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Публичный лот, 34,3 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Атлантис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6,745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Минимум наблюдаемого фида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4425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D0FFA-BFF4-46EA-BE67-6752E14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Наши квартиры в бюджете конкурента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6BE5-79E8-47DA-A405-D22804B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7AD53-47E1-4F02-9778-8B005F8F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Посчитаны все свободные квартиры HART не дороже ориентира. Это не подбор аналогов по комнатности и метражу.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03B48-043D-4873-AF1F-1397B83ACE11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190750"/>
                <a:gridCol w="1762125"/>
                <a:gridCol w="1819275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Публичный ориентир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Бюджет,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Заря, шт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Пьермонт, шт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Атлантис, 2к от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7,901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Парк, 2к 55,9 м²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8,329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Динамика, 2к 54,43 м²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Высота, объявление 59,5 м²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3607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D219D-789A-428F-9E44-E0829B6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Примеры квартир конкурентов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0464-903D-4DB0-9CFC-BEDBE80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8F5A6-3F0F-41C5-AEF0-8B2F6DD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Цены и площади относятся к одному лоту. Для HART такой расчёт потребует площади конкретной квартиры.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9C09-94A0-4CB1-B33A-ECEE9D08A707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095500"/>
                <a:gridCol w="2095500"/>
                <a:gridCol w="21526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Квартира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Площадь, 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₽/м²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Парк, 2к №229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55,90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8,329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Динамика, 2к №292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54,43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Высота, 3 смарт с ремонтом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191 597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1631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F5F41-DECE-490B-AA81-A49FED5F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Высота: готовое жильё отдельной строкой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C9D51-333A-44D7-9190-2E891404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43E4-D569-463F-AE69-DED87539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Объявления с описанием другого ЖК или другого адреса не включены в сравнение.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655CF-A043-4427-800F-7FDDDE93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Объект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CFABE-13B8-49A2-A51C-B4ADEE4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Рудольфа Нуреева, 16. В объявлении 59,5 м², 9/25 этаж, кухня-гостиная и две спальни.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CC781-321B-4E61-B37A-25BB6DFE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Предложение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A0E93-CE46-461A-A8CB-CF2AD58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11,4 млн ₽ с ремонтом и частью мебели. Это один пример вторички, не минимум и не средняя ЖК.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3DAAC-29FD-4759-BFB6-C29243B7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Сопоставимость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5D8AC-E6AF-46D0-BAF6-1A64F4D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 HART отличаются готовность и условия покупки. Есть конфликт года постройки в карточке.</a:t>
            </a:r>
          </a:p>
        </p:txBody>
      </p:sp>
    </p:spTree>
    <p:extLst>
      <p:ext uri="{BB962C8B-B14F-4D97-AF65-F5344CB8AC3E}">
        <p14:creationId xmlns:p14="http://schemas.microsoft.com/office/powerpoint/2010/main" val="1963946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AB0C4-D67C-4132-8DD1-894F109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Реестр и публичная витрина расходятся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608C-1CAD-437F-A8EF-56AD759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07E5A-09B3-464B-ADE8-B11A3FE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Для новых собственных цен используется реестр. Разные статусы и даты обновления могут давать разные минимумы.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99770-22D6-4D9B-B68B-AE341177C442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238500"/>
                <a:gridCol w="38671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Минимум,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Реестр свободных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Прежний публичный фид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5,612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7,648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7,073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8531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BC42A-316F-4B32-8596-AE36CD4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Взнос для медианной квартиры реестра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37A32-C550-486F-9DC2-A917C01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A7B13-3598-4791-B480-139B267D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Лимит кредита 6 млн ₽, взнос ≥20,1%. Комнатность медианы неизвестна. Право на льготу проверяется индивидуально.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FBF97-9379-42E1-9F54-60B78613B708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190750"/>
                <a:gridCol w="3238500"/>
                <a:gridCol w="243840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Свои деньги,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взноса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9,248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3,248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35,1%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158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757A0-C83F-4C62-9502-F05EFEE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Заря: защита расходов через квалификацию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F234E-1D2B-4640-89AF-D36BB949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61BDA-D2DC-4AD3-B2FC-79B1A44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Ожидаемый эффект действий требует проверки. Заранее утверждается стоимость сделки и срок оценки.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0DBCC-5E92-43B3-8639-2F8A51DC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Директ и классифайды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1E4F9-BAAA-4179-BBA3-BC3A65D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Конкретный лот, полный взнос и срок ожидания. В CRM фиксировать бюджет покупки и доступный маршрут оплаты.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73978-A3CC-4510-B3D2-B697FC28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ВКонтакте и квиз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AE85-BD2E-4584-B80B-C0837986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Отдельная метка источника. Проверка стоимости целевого обращения и доли покупателей с реальным взносом.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3141C-313C-426C-A0F1-51CCF70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Контроль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DFCC0-9E5D-4AE1-A1B9-E8214E2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 масштабировать поток при росте нецелевых обращений. Причины потерь проверять совместно с продажами.</a:t>
            </a:r>
          </a:p>
        </p:txBody>
      </p:sp>
    </p:spTree>
    <p:extLst>
      <p:ext uri="{BB962C8B-B14F-4D97-AF65-F5344CB8AC3E}">
        <p14:creationId xmlns:p14="http://schemas.microsoft.com/office/powerpoint/2010/main" val="15283082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BEAF7-7CFE-4D29-9D05-61B119A8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Пьермонт: агентский канал и персональный показ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454B1-5A07-466B-BD13-DF39F0F3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2D09-70B0-4F1A-AE7A-E7FFEA3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Исторически собственный ОП дал 11 из 13 сделок. Восстановление агентского канала ещё нужно доказать.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6AD29-F11C-4296-8F6D-2B507A9D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Агенты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2E273-1E74-4DFC-8E88-9962EF9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Резерв 6,352 млн ₽ по файлу. Поимённый план партнёров и реестр клиентов вместо обещания 70% без воронки.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F7CAE-EB47-4E4B-A15A-0E05FEE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Своя лидогенерация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57472-4CAF-4388-BF68-12A426E2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Персональный подбор по подтверждённому бюджету. На встрече объяснять виды, планировки и полную стоимость.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F7D98-8507-4891-84E1-14CE1534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Условие расхода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420F-5D78-4E31-9AF5-D795E51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Решить разрыв Директа 1,380 млн ₽. Затем контролировать запись, проведённый показ, бронь и договор.</a:t>
            </a:r>
          </a:p>
        </p:txBody>
      </p:sp>
    </p:spTree>
    <p:extLst>
      <p:ext uri="{BB962C8B-B14F-4D97-AF65-F5344CB8AC3E}">
        <p14:creationId xmlns:p14="http://schemas.microsoft.com/office/powerpoint/2010/main" val="5825920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1E28C-A7DE-4408-BB64-77DCAA6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Октябрь и декабрь: контроль времени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FC08-8ABE-4552-913E-3148BC8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A1B6-C14B-4B7B-BA7B-45A963CE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Расходы 2027 года в запрос не включены. Лаг результата может выходить за границу квартала.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6180-7C63-43A4-A333-227A367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Октябрь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7D6CE-3B91-4E3C-9E57-731A979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Файл содержит полный месяц. Для остаточного лимита нужны факт на дату защиты и обязательства до конца месяца.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AD1DD-0358-4553-BC96-A5C3708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Декабрь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3EEE-E779-4696-84E2-C64F5D43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Разделить работу с текущей базой и новые обращения. Без срока сделки нельзя приписать новые лиды продажам до 31 декабря.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3190C-C137-4C08-A34D-A849765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Остановка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BAE46-8C76-4CC0-9ED5-CE8FE801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Решение по каналу после достаточной выборки и полного лага. Порог CAC и срок проверки утверждаются до расходования.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9430073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1EDFD-386F-420D-AD9C-52D738F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Решение для генерального директора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E23FE-F33D-4025-93AA-1833FCD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E8D79-D573-48D8-8BDA-D152F89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Утверждение лимита не равно доказательству эффективности. Неподтверждённые статьи имеют условный статус.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CC2A-815A-4869-9164-B904E86C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Лимиты файлов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44712-C78D-4FB3-91FE-0048350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18,298 млн ₽ на привлечение. Бренд 4,040 млн ₽ отдельно. Полный коммерческий блок 27,868 млн ₽ без ФОТ.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7828E-3BB4-4B57-9902-143D2F0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Выбор расчёта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409C4-3D06-4C0E-8615-474549E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Сохранить суммы файлов либо утвердить перенос 2,701 млн ₽ из лидгена к агентам по правилу 70/30 расходов.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73FF1-8DC2-4875-B42E-9A7D107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0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Условия расхода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05FB-A0A4-4E51-8B3C-6E1C0D06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748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Сверить разрыв Пьермонта, фактический октябрь, ФОТ, «Прочее», регистрацию и договоры подрядчиков.</a:t>
            </a:r>
          </a:p>
        </p:txBody>
      </p:sp>
    </p:spTree>
    <p:extLst>
      <p:ext uri="{BB962C8B-B14F-4D97-AF65-F5344CB8AC3E}">
        <p14:creationId xmlns:p14="http://schemas.microsoft.com/office/powerpoint/2010/main" val="9346650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0665A-9FDF-42EC-96B7-056CE8F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01–02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96DD-02F5-49CB-8AC5-3A8584E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A1E85-1D19-44AA-92EC-11CF13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29FF5-0582-4F1F-A3F4-0F7AFCE2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1. Сколько просим и что получим?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840C9-DB00-4DDA-BCA2-C840545A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18,298 млн ₽ на привлечение. План 37,002 квартирного эквивалента на 393,414 млн ₽ договоров. Результат условен и зависит от воронки.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DF218-E0A9-48E9-B54C-4AA6290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2. Что значит «заработаем»?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27C7-6F32-4858-956E-45BFBB1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393,414 млн ₽ договоров и 268,683 млн ₽ планового эскроу показаны отдельно. Доступные компании средства финансовая служба подтверждает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1379211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AC600-C3DE-4723-976A-2217966F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03–04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14EA0-7004-4AD7-AC05-D8C090C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5DF40-8726-403A-AF18-30A9D71E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17297-50BD-4475-AF80-C8096303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3. Бюджет рассчитан или собран из пожеланий?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17873-9442-4292-829F-4D09556B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У Зари Директ совпадает с моделью. У Пьермонта 3,300 млн ₽ вместо 4,680 млн ₽ при 117 лидах и CPL 40 тыс. ₽. Остальные услуги требуют смет.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AD812-09A3-462B-9C01-7D63B88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4. Почему 70 на 30?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1E72F-D4C0-44CA-8B3F-285151C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 файлах это доли выручки. Новое правило расходов даёт 12,809 млн ₽ агентам и 5,490 млн ₽ лидгену в той же базе 18,298 млн ₽.</a:t>
            </a:r>
          </a:p>
        </p:txBody>
      </p:sp>
    </p:spTree>
    <p:extLst>
      <p:ext uri="{BB962C8B-B14F-4D97-AF65-F5344CB8AC3E}">
        <p14:creationId xmlns:p14="http://schemas.microsoft.com/office/powerpoint/2010/main" val="19836508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0E1F8-70F2-4674-8084-B296F90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05–06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1172B-0F5D-463E-80FA-6E905FE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69DCC-775F-4E71-88B9-0B78DE2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4A45F-BAFF-43EB-8037-5F06713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5. Часть октября уже прошла. Сколько осталось?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4EF16-DB78-49EE-B7D8-E00B2D9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 файлах только полный месячный план. Остаток к оплате определяется после факта октября и реестра обязательств. Сейчас точной остаточной суммы нет.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2946E-D4E6-4DAF-B268-EFBD5F0A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6. Сколько стоит продать квартиру полностью?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766C6-75B1-4194-B9E9-AA5E49B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Привлечение: 462 тыс. ₽ по Заре, 522 тыс. ₽ по Пьермонту. Коммерческие без ФОТ: 724 тыс. ₽ и 778 тыс. ₽ на плановый эквивалент.</a:t>
            </a:r>
          </a:p>
        </p:txBody>
      </p:sp>
    </p:spTree>
    <p:extLst>
      <p:ext uri="{BB962C8B-B14F-4D97-AF65-F5344CB8AC3E}">
        <p14:creationId xmlns:p14="http://schemas.microsoft.com/office/powerpoint/2010/main" val="10303127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F4706-93A5-466B-BB80-7DA5603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07–08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05719-2CEA-4749-B38B-29482568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C6D2-7339-4227-B9D4-8B27694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1272-4592-4F64-8A17-30D624CB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7. Почему верить конверсии 6%?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A68EF-5ACF-4659-B55A-A51AAAB6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История апреля–июля: 4,18% у Зари и 2,83% у Пьермонта. 6% является целевым допущением. До масштаба требуется подтверждение по когортам.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FEC05-87FE-4EBF-9200-A8D9EA7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8. Декабрьские лиды успеют купить?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C70E3-DEB9-4306-84C8-F7C5E81A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Без фактического срока сделки этого обещать нельзя. Для результата до конца года приоритет текущей базе, новым обращениям нужен отдельный прогноз лага.</a:t>
            </a:r>
          </a:p>
        </p:txBody>
      </p:sp>
    </p:spTree>
    <p:extLst>
      <p:ext uri="{BB962C8B-B14F-4D97-AF65-F5344CB8AC3E}">
        <p14:creationId xmlns:p14="http://schemas.microsoft.com/office/powerpoint/2010/main" val="17761823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FA0C-DE0F-4797-A07C-E39BFD50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09–10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1B582-A587-426B-814E-C2FB53C6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1F2B2-9232-4978-A695-76FB21FB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41DE9-DFC4-40C4-91D1-1F85F12E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9. Почему Заре имидж, Пьермонту лидген?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157BB-B5BB-46FD-870B-32BA012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Оба проекта имеют лидген и бренд. Заре 4,149 млн ₽ лидгена и 2,049 млн ₽ бренда. Пьермонту 4,042 млн ₽ и 1,991 млн ₽ соответственно.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B98E-C22B-4D0E-9B4B-C1F7AB9A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10. Если люди придут и не купят, зачем тратить?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3BAF-DF5B-40B8-8849-9A9B6006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Квалифицируем взнос и бюджет до показа. По каналам проверяем долю целевых, договоры и CAC с учётом лага. Неподтверждённый канал не масштабируем.</a:t>
            </a:r>
          </a:p>
        </p:txBody>
      </p:sp>
    </p:spTree>
    <p:extLst>
      <p:ext uri="{BB962C8B-B14F-4D97-AF65-F5344CB8AC3E}">
        <p14:creationId xmlns:p14="http://schemas.microsoft.com/office/powerpoint/2010/main" val="18671379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9034-B2E2-454A-B6C5-0E5A082B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11–12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F3ACF-0E24-42D0-9C21-EA375A5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2D20-7602-4A19-AF74-BAF65F7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8CBF-69FD-4053-BA89-7714D1F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11. Почему выбрать нас при высокой цене?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8711C-FE99-497C-AADE-6DAFE12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 реестру вход Зари 5,245 млн ₽, Пьермонта 7,648 млн ₽. У конкурентов разные форматы. Чистую премию за одинаковый метраж без площади HART не заявляем.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B9B32-B8C2-491A-8A60-3E6FB74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12. У конкурента платёж ниже. Что делать?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63E40-D6BF-4480-9FDF-71119D9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Сравниваем полный график и взнос. Для медианы реестра при кредите до 6 млн ₽ свои средства: Заря 3,248 млн ₽, Пьермонт 9,000 млн ₽.</a:t>
            </a:r>
          </a:p>
        </p:txBody>
      </p:sp>
    </p:spTree>
    <p:extLst>
      <p:ext uri="{BB962C8B-B14F-4D97-AF65-F5344CB8AC3E}">
        <p14:creationId xmlns:p14="http://schemas.microsoft.com/office/powerpoint/2010/main" val="7770860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7A747-5E84-43AB-A51D-970C072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13–14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0258A-B5BD-46B0-96DD-A2FC5CB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D78F1-5260-4E04-BB5D-7119CCB2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A3149-FC31-449C-AF48-CC6FCA6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13. Аналитика не собрана из цен «от»?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A00D-5A25-4CB1-9DFA-8F31330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Собственные цены взяты из реестра свободных квартир. Цены конкурентов разделены на рекламные минимумы и конкретные лоты. Метраж HART в файле отсутствует.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4DEEB-5DBF-4D29-B919-CE5E492E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14. Может, дешёвые квартиры закончились?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39230-BAD0-4568-BA63-442EB82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Да, состав предложения влияет на средние. Чистое изменение цены не выделено. Заявлять точную переоценку по этим группам нельзя.</a:t>
            </a:r>
          </a:p>
        </p:txBody>
      </p:sp>
    </p:spTree>
    <p:extLst>
      <p:ext uri="{BB962C8B-B14F-4D97-AF65-F5344CB8AC3E}">
        <p14:creationId xmlns:p14="http://schemas.microsoft.com/office/powerpoint/2010/main" val="18890991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78ABB-4B52-40DC-94EE-F33A76B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15–16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7D770-124E-418E-ADB2-25D1714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9F50-B820-476F-96CF-003352C5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1866C-7B25-43FE-9BB8-4BA22742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15. Какова наша доля рынка?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A66AF-5ACE-45E5-BCE4-CD251A2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Долю продаж HART не заявляем: нет сопоставимого полного знаменателя. Количество объявлений и региональная ипотека эту долю не определяют.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01ECD-0AF7-4C8B-91B1-707AC99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16. Вы объединили медийку и лидген, чтобы скрыть расходы?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BF13-E5F1-41F0-9374-84F912D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Нет, бренд 4,040 млн ₽ раскрыт отдельно. Лидген 8,190 млн ₽ имеет свой состав. Каждая услуга защищается результатом и проверкой тарифа.</a:t>
            </a:r>
          </a:p>
        </p:txBody>
      </p:sp>
    </p:spTree>
    <p:extLst>
      <p:ext uri="{BB962C8B-B14F-4D97-AF65-F5344CB8AC3E}">
        <p14:creationId xmlns:p14="http://schemas.microsoft.com/office/powerpoint/2010/main" val="191256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37CEE-83F5-4558-9EAE-8E0ABEDB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17–18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6D36F-CBF9-4FF3-A455-F5798DF7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7F72A-80B0-4E66-9C56-D6302BCA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30A1D-17C8-4E08-941E-42D5BE3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17. Как доказать дополнительные продажи от рекламы?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B22DD-184C-4357-94B7-7181C4D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CRM показывает связь, но не доказывает прирост. Для оценки дополнительного эффекта нужен контролируемый тест и единые правила учёта.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47BF0-2886-4DB2-A77C-6A41ECA6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18. Почему платить рекламе и агенту за одного клиента?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8378B-8DBE-467C-8D80-1160FB1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 CRM фиксируем источник и участие агента. Совместный расход включается в стоимость сделки. Комиссия выплачивается по договорным правилам.</a:t>
            </a:r>
          </a:p>
        </p:txBody>
      </p:sp>
    </p:spTree>
    <p:extLst>
      <p:ext uri="{BB962C8B-B14F-4D97-AF65-F5344CB8AC3E}">
        <p14:creationId xmlns:p14="http://schemas.microsoft.com/office/powerpoint/2010/main" val="1649674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AC966-C170-4B6A-843A-0F6426F0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19–20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55E3-F661-4D06-BC74-A42C6CD4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5F928-00B4-4E11-8BC0-23AF66A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82D43-A91B-4926-83D6-39366168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19. Чем полезны экскурсии без продаж?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7F282-5DD2-467E-9151-F2242F5A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Проведённый показ оцениваем вместе с бронью и договором. Само количество экскурсий не является результатом защиты бюджета.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95908-1D0D-4AFE-AAB0-555F69D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20. Кто отвечает за невыполнение?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E6E8B-9EC7-4208-B269-628B888A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Маркетинг и продажи разбирают место потери одной воронки. Квалификация, скорость обработки и следующий шаг видны в общем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186774574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D9140-77DA-464A-94F9-4A4CE37C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21–22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3C834-79C7-4AB3-AF5D-5875D15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3D90B-EEB6-4751-AED1-E8948EC6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552C1-F4DF-42F5-A1D3-D02C50C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21. Сокращу бюджет на 20%. Что потеряем?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ACE33-8CC1-42DF-A050-B7AC01EE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 коммерческих 27,868 млн ₽ сокращение 5,574 млн ₽. Точную потерю квартир данные не определяют. Сначала проверяем обязательства и пересчитываем воронку.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E26A5-AFD4-4E17-9689-357D907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22. Что отключаем первым без результата?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5EFE-F91D-4469-A4E8-A9CE126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Управляемый канал с неподтверждённой задачей после достаточной выборки и лага. Сначала проверяем качество лидов, затем стоимость ожидаемого договора.</a:t>
            </a:r>
          </a:p>
        </p:txBody>
      </p:sp>
    </p:spTree>
    <p:extLst>
      <p:ext uri="{BB962C8B-B14F-4D97-AF65-F5344CB8AC3E}">
        <p14:creationId xmlns:p14="http://schemas.microsoft.com/office/powerpoint/2010/main" val="7621615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C36E8-5894-42C3-AE39-1428A1B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Ответы директору 23–24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7984-E7D8-4812-82A8-D4FCDFF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22DC8-C028-470B-88ED-51DA280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Подробный ответ и основания находятся в расчётной записке.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32C93-3E64-48AB-89B3-E7361A6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23. Актуализация раз в квартал: провал не заметите?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E226D-4977-4BBC-AAAC-A5AADB15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Еженедельный контроль предлагается внутри месячных лимитов. Квартальный пересмотр не запрещает раннее прекращение неэффективного расхода.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9D443-5106-49E9-AFE3-DA5FA14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24. Что утвердить сегодня?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504DF-F85F-4C60-9047-19EBC53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Месячные лимиты, выбранный смысл 70/30, вариант Директа Пьермонта и условия допуска расходов. Отдельно закрыть ФОТ, октябрьский факт и неопределённые статьи.</a:t>
            </a:r>
          </a:p>
        </p:txBody>
      </p:sp>
    </p:spTree>
    <p:extLst>
      <p:ext uri="{BB962C8B-B14F-4D97-AF65-F5344CB8AC3E}">
        <p14:creationId xmlns:p14="http://schemas.microsoft.com/office/powerpoint/2010/main" val="1627483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2026-10-14T11:33:50.8720000Z</dcterms:created>
  <dcterms:modified xsi:type="dcterms:W3CDTF">2026-10-14T11:33:50.8730000Z</dcterms:modified>
</coreProperties>
</file>