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aeeb6094caa4f8c" /><Relationship Type="http://schemas.openxmlformats.org/officeDocument/2006/relationships/extended-properties" Target="/docProps/app.xml" Id="Rb75415206ed64b3f" /><Relationship Type="http://schemas.openxmlformats.org/officeDocument/2006/relationships/officeDocument" Target="/ppt/presentation.xml" Id="Ra337bc7cc5a44af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b0cb41d2030486b"/>
  </p:sldMasterIdLst>
  <p:notesMasterIdLst>
    <p:notesMasterId xmlns:r="http://schemas.openxmlformats.org/officeDocument/2006/relationships" r:id="Raea33097cc05425c"/>
  </p:notesMasterIdLst>
  <p:sldIdLst>
    <p:sldId xmlns:r="http://schemas.openxmlformats.org/officeDocument/2006/relationships" id="256" r:id="Rce60817cce0e4263"/>
    <p:sldId xmlns:r="http://schemas.openxmlformats.org/officeDocument/2006/relationships" id="257" r:id="R64c6b435decd4ea6"/>
    <p:sldId xmlns:r="http://schemas.openxmlformats.org/officeDocument/2006/relationships" id="258" r:id="R7801e384dd53479a"/>
    <p:sldId xmlns:r="http://schemas.openxmlformats.org/officeDocument/2006/relationships" id="259" r:id="R689b3298f1a044fc"/>
    <p:sldId xmlns:r="http://schemas.openxmlformats.org/officeDocument/2006/relationships" id="260" r:id="R5d45d9ebff2c4f6f"/>
    <p:sldId xmlns:r="http://schemas.openxmlformats.org/officeDocument/2006/relationships" id="261" r:id="R5bfe53688ca84c65"/>
    <p:sldId xmlns:r="http://schemas.openxmlformats.org/officeDocument/2006/relationships" id="262" r:id="R226f4a77bcd74aee"/>
    <p:sldId xmlns:r="http://schemas.openxmlformats.org/officeDocument/2006/relationships" id="263" r:id="Rc56611b9ecd944e9"/>
    <p:sldId xmlns:r="http://schemas.openxmlformats.org/officeDocument/2006/relationships" id="264" r:id="Re6f59238ab2644fc"/>
    <p:sldId xmlns:r="http://schemas.openxmlformats.org/officeDocument/2006/relationships" id="265" r:id="R749083236b0d4c8f"/>
    <p:sldId xmlns:r="http://schemas.openxmlformats.org/officeDocument/2006/relationships" id="266" r:id="Rb09c08e1f52f4707"/>
    <p:sldId xmlns:r="http://schemas.openxmlformats.org/officeDocument/2006/relationships" id="267" r:id="Ra6cf114268f748e2"/>
    <p:sldId xmlns:r="http://schemas.openxmlformats.org/officeDocument/2006/relationships" id="268" r:id="R015a4c16da344a40"/>
    <p:sldId xmlns:r="http://schemas.openxmlformats.org/officeDocument/2006/relationships" id="269" r:id="R7d1b8c00efd04b84"/>
    <p:sldId xmlns:r="http://schemas.openxmlformats.org/officeDocument/2006/relationships" id="270" r:id="Re504388b6b1644ed"/>
    <p:sldId xmlns:r="http://schemas.openxmlformats.org/officeDocument/2006/relationships" id="271" r:id="Racf7d37d8fb8443c"/>
    <p:sldId xmlns:r="http://schemas.openxmlformats.org/officeDocument/2006/relationships" id="272" r:id="R46479d628df84dfe"/>
    <p:sldId xmlns:r="http://schemas.openxmlformats.org/officeDocument/2006/relationships" id="273" r:id="Rb9fb7b8ca3a645bc"/>
    <p:sldId xmlns:r="http://schemas.openxmlformats.org/officeDocument/2006/relationships" id="274" r:id="R834c6e7ed6814c33"/>
    <p:sldId xmlns:r="http://schemas.openxmlformats.org/officeDocument/2006/relationships" id="275" r:id="Ra8343c9f67414f3b"/>
    <p:sldId xmlns:r="http://schemas.openxmlformats.org/officeDocument/2006/relationships" id="276" r:id="R77a4b155658a4d41"/>
    <p:sldId xmlns:r="http://schemas.openxmlformats.org/officeDocument/2006/relationships" id="277" r:id="Rdb00311fd7cc464c"/>
    <p:sldId xmlns:r="http://schemas.openxmlformats.org/officeDocument/2006/relationships" id="278" r:id="Rcc9f66c6f9d34bc1"/>
    <p:sldId xmlns:r="http://schemas.openxmlformats.org/officeDocument/2006/relationships" id="279" r:id="R2aa5e3b4db9b47b4"/>
    <p:sldId xmlns:r="http://schemas.openxmlformats.org/officeDocument/2006/relationships" id="280" r:id="Rbfca31272d9041c3"/>
    <p:sldId xmlns:r="http://schemas.openxmlformats.org/officeDocument/2006/relationships" id="281" r:id="Rb07feb34eabb4ee5"/>
    <p:sldId xmlns:r="http://schemas.openxmlformats.org/officeDocument/2006/relationships" id="282" r:id="R8969247b7d04462d"/>
    <p:sldId xmlns:r="http://schemas.openxmlformats.org/officeDocument/2006/relationships" id="283" r:id="R84942e9fbe1f45c8"/>
    <p:sldId xmlns:r="http://schemas.openxmlformats.org/officeDocument/2006/relationships" id="284" r:id="R8578f546d2274938"/>
    <p:sldId xmlns:r="http://schemas.openxmlformats.org/officeDocument/2006/relationships" id="285" r:id="R4c4afb38bd7943a3"/>
    <p:sldId xmlns:r="http://schemas.openxmlformats.org/officeDocument/2006/relationships" id="286" r:id="Rdce84e8c1a164060"/>
    <p:sldId xmlns:r="http://schemas.openxmlformats.org/officeDocument/2006/relationships" id="287" r:id="Rde47c6028f8b4d1f"/>
    <p:sldId xmlns:r="http://schemas.openxmlformats.org/officeDocument/2006/relationships" id="288" r:id="R3c2736b673f24061"/>
    <p:sldId xmlns:r="http://schemas.openxmlformats.org/officeDocument/2006/relationships" id="289" r:id="R90f1c294bf42444a"/>
    <p:sldId xmlns:r="http://schemas.openxmlformats.org/officeDocument/2006/relationships" id="290" r:id="R76850ed1ddee40a1"/>
    <p:sldId xmlns:r="http://schemas.openxmlformats.org/officeDocument/2006/relationships" id="291" r:id="R9058068535ae417b"/>
    <p:sldId xmlns:r="http://schemas.openxmlformats.org/officeDocument/2006/relationships" id="292" r:id="R5fbbdad1a9664836"/>
    <p:sldId xmlns:r="http://schemas.openxmlformats.org/officeDocument/2006/relationships" id="293" r:id="Re12b7646ad594e97"/>
    <p:sldId xmlns:r="http://schemas.openxmlformats.org/officeDocument/2006/relationships" id="294" r:id="R574ff630c36e4ad7"/>
    <p:sldId xmlns:r="http://schemas.openxmlformats.org/officeDocument/2006/relationships" id="295" r:id="R039bd47997d24406"/>
    <p:sldId xmlns:r="http://schemas.openxmlformats.org/officeDocument/2006/relationships" id="296" r:id="R53318e5223c64a4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5fae312bb4b478a" /><Relationship Type="http://schemas.openxmlformats.org/officeDocument/2006/relationships/slideMaster" Target="/ppt/slideMasters/slideMaster1.xml" Id="R5b0cb41d2030486b" /><Relationship Type="http://schemas.openxmlformats.org/officeDocument/2006/relationships/notesMaster" Target="/ppt/notesMasters/notesMaster1.xml" Id="Raea33097cc05425c" /><Relationship Type="http://schemas.openxmlformats.org/officeDocument/2006/relationships/presProps" Target="/ppt/presProps.xml" Id="R58e30a5a3c8944d4" /><Relationship Type="http://schemas.openxmlformats.org/officeDocument/2006/relationships/tableStyles" Target="/ppt/tableStyles.xml" Id="R7e84953673ce4e22" /><Relationship Type="http://schemas.openxmlformats.org/officeDocument/2006/relationships/slide" Target="/ppt/slides/slide1.xml" Id="Rce60817cce0e4263" /><Relationship Type="http://schemas.openxmlformats.org/officeDocument/2006/relationships/slide" Target="/ppt/slides/slide2.xml" Id="R64c6b435decd4ea6" /><Relationship Type="http://schemas.openxmlformats.org/officeDocument/2006/relationships/slide" Target="/ppt/slides/slide3.xml" Id="R7801e384dd53479a" /><Relationship Type="http://schemas.openxmlformats.org/officeDocument/2006/relationships/slide" Target="/ppt/slides/slide4.xml" Id="R689b3298f1a044fc" /><Relationship Type="http://schemas.openxmlformats.org/officeDocument/2006/relationships/slide" Target="/ppt/slides/slide5.xml" Id="R5d45d9ebff2c4f6f" /><Relationship Type="http://schemas.openxmlformats.org/officeDocument/2006/relationships/slide" Target="/ppt/slides/slide6.xml" Id="R5bfe53688ca84c65" /><Relationship Type="http://schemas.openxmlformats.org/officeDocument/2006/relationships/slide" Target="/ppt/slides/slide7.xml" Id="R226f4a77bcd74aee" /><Relationship Type="http://schemas.openxmlformats.org/officeDocument/2006/relationships/slide" Target="/ppt/slides/slide8.xml" Id="Rc56611b9ecd944e9" /><Relationship Type="http://schemas.openxmlformats.org/officeDocument/2006/relationships/slide" Target="/ppt/slides/slide9.xml" Id="Re6f59238ab2644fc" /><Relationship Type="http://schemas.openxmlformats.org/officeDocument/2006/relationships/slide" Target="/ppt/slides/slide10.xml" Id="R749083236b0d4c8f" /><Relationship Type="http://schemas.openxmlformats.org/officeDocument/2006/relationships/slide" Target="/ppt/slides/slide11.xml" Id="Rb09c08e1f52f4707" /><Relationship Type="http://schemas.openxmlformats.org/officeDocument/2006/relationships/slide" Target="/ppt/slides/slide12.xml" Id="Ra6cf114268f748e2" /><Relationship Type="http://schemas.openxmlformats.org/officeDocument/2006/relationships/slide" Target="/ppt/slides/slide13.xml" Id="R015a4c16da344a40" /><Relationship Type="http://schemas.openxmlformats.org/officeDocument/2006/relationships/slide" Target="/ppt/slides/slide14.xml" Id="R7d1b8c00efd04b84" /><Relationship Type="http://schemas.openxmlformats.org/officeDocument/2006/relationships/slide" Target="/ppt/slides/slide15.xml" Id="Re504388b6b1644ed" /><Relationship Type="http://schemas.openxmlformats.org/officeDocument/2006/relationships/slide" Target="/ppt/slides/slide16.xml" Id="Racf7d37d8fb8443c" /><Relationship Type="http://schemas.openxmlformats.org/officeDocument/2006/relationships/slide" Target="/ppt/slides/slide17.xml" Id="R46479d628df84dfe" /><Relationship Type="http://schemas.openxmlformats.org/officeDocument/2006/relationships/slide" Target="/ppt/slides/slide18.xml" Id="Rb9fb7b8ca3a645bc" /><Relationship Type="http://schemas.openxmlformats.org/officeDocument/2006/relationships/slide" Target="/ppt/slides/slide19.xml" Id="R834c6e7ed6814c33" /><Relationship Type="http://schemas.openxmlformats.org/officeDocument/2006/relationships/slide" Target="/ppt/slides/slide20.xml" Id="Ra8343c9f67414f3b" /><Relationship Type="http://schemas.openxmlformats.org/officeDocument/2006/relationships/slide" Target="/ppt/slides/slide21.xml" Id="R77a4b155658a4d41" /><Relationship Type="http://schemas.openxmlformats.org/officeDocument/2006/relationships/slide" Target="/ppt/slides/slide22.xml" Id="Rdb00311fd7cc464c" /><Relationship Type="http://schemas.openxmlformats.org/officeDocument/2006/relationships/slide" Target="/ppt/slides/slide23.xml" Id="Rcc9f66c6f9d34bc1" /><Relationship Type="http://schemas.openxmlformats.org/officeDocument/2006/relationships/slide" Target="/ppt/slides/slide24.xml" Id="R2aa5e3b4db9b47b4" /><Relationship Type="http://schemas.openxmlformats.org/officeDocument/2006/relationships/slide" Target="/ppt/slides/slide25.xml" Id="Rbfca31272d9041c3" /><Relationship Type="http://schemas.openxmlformats.org/officeDocument/2006/relationships/slide" Target="/ppt/slides/slide26.xml" Id="Rb07feb34eabb4ee5" /><Relationship Type="http://schemas.openxmlformats.org/officeDocument/2006/relationships/slide" Target="/ppt/slides/slide27.xml" Id="R8969247b7d04462d" /><Relationship Type="http://schemas.openxmlformats.org/officeDocument/2006/relationships/slide" Target="/ppt/slides/slide28.xml" Id="R84942e9fbe1f45c8" /><Relationship Type="http://schemas.openxmlformats.org/officeDocument/2006/relationships/slide" Target="/ppt/slides/slide29.xml" Id="R8578f546d2274938" /><Relationship Type="http://schemas.openxmlformats.org/officeDocument/2006/relationships/slide" Target="/ppt/slides/slide30.xml" Id="R4c4afb38bd7943a3" /><Relationship Type="http://schemas.openxmlformats.org/officeDocument/2006/relationships/slide" Target="/ppt/slides/slide31.xml" Id="Rdce84e8c1a164060" /><Relationship Type="http://schemas.openxmlformats.org/officeDocument/2006/relationships/slide" Target="/ppt/slides/slide32.xml" Id="Rde47c6028f8b4d1f" /><Relationship Type="http://schemas.openxmlformats.org/officeDocument/2006/relationships/slide" Target="/ppt/slides/slide33.xml" Id="R3c2736b673f24061" /><Relationship Type="http://schemas.openxmlformats.org/officeDocument/2006/relationships/slide" Target="/ppt/slides/slide34.xml" Id="R90f1c294bf42444a" /><Relationship Type="http://schemas.openxmlformats.org/officeDocument/2006/relationships/slide" Target="/ppt/slides/slide35.xml" Id="R76850ed1ddee40a1" /><Relationship Type="http://schemas.openxmlformats.org/officeDocument/2006/relationships/slide" Target="/ppt/slides/slide36.xml" Id="R9058068535ae417b" /><Relationship Type="http://schemas.openxmlformats.org/officeDocument/2006/relationships/slide" Target="/ppt/slides/slide37.xml" Id="R5fbbdad1a9664836" /><Relationship Type="http://schemas.openxmlformats.org/officeDocument/2006/relationships/slide" Target="/ppt/slides/slide38.xml" Id="Re12b7646ad594e97" /><Relationship Type="http://schemas.openxmlformats.org/officeDocument/2006/relationships/slide" Target="/ppt/slides/slide39.xml" Id="R574ff630c36e4ad7" /><Relationship Type="http://schemas.openxmlformats.org/officeDocument/2006/relationships/slide" Target="/ppt/slides/slide40.xml" Id="R039bd47997d24406" /><Relationship Type="http://schemas.openxmlformats.org/officeDocument/2006/relationships/slide" Target="/ppt/slides/slide41.xml" Id="R53318e5223c64a4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71f2d3524be41c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a85a65c488748ff" /><Relationship Type="http://schemas.openxmlformats.org/officeDocument/2006/relationships/notesMaster" Target="/ppt/notesMasters/notesMaster1.xml" Id="Rddd5b8f1fb154e5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2fbd3e29e36417f" /><Relationship Type="http://schemas.openxmlformats.org/officeDocument/2006/relationships/notesMaster" Target="/ppt/notesMasters/notesMaster1.xml" Id="Rb9b23c6571364a2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5ef1e7f0b124fc8" /><Relationship Type="http://schemas.openxmlformats.org/officeDocument/2006/relationships/notesMaster" Target="/ppt/notesMasters/notesMaster1.xml" Id="Rc50a7f00feb94d9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2344ffddeba4a90" /><Relationship Type="http://schemas.openxmlformats.org/officeDocument/2006/relationships/notesMaster" Target="/ppt/notesMasters/notesMaster1.xml" Id="R3981e932b798484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0ec09d271654a90" /><Relationship Type="http://schemas.openxmlformats.org/officeDocument/2006/relationships/notesMaster" Target="/ppt/notesMasters/notesMaster1.xml" Id="Rcb3c376465b4477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89c2206552843bb" /><Relationship Type="http://schemas.openxmlformats.org/officeDocument/2006/relationships/notesMaster" Target="/ppt/notesMasters/notesMaster1.xml" Id="Rd216d69be0e94aa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23d39721c394b63" /><Relationship Type="http://schemas.openxmlformats.org/officeDocument/2006/relationships/notesMaster" Target="/ppt/notesMasters/notesMaster1.xml" Id="R81a6b6234abe490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87875df58864855" /><Relationship Type="http://schemas.openxmlformats.org/officeDocument/2006/relationships/notesMaster" Target="/ppt/notesMasters/notesMaster1.xml" Id="Rb7810b999a4c4b1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13607d638ee4c56" /><Relationship Type="http://schemas.openxmlformats.org/officeDocument/2006/relationships/notesMaster" Target="/ppt/notesMasters/notesMaster1.xml" Id="R039ba1abe81749d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6a6f3951d104ff3" /><Relationship Type="http://schemas.openxmlformats.org/officeDocument/2006/relationships/notesMaster" Target="/ppt/notesMasters/notesMaster1.xml" Id="Reec0cf571351410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0ab602353084e8e" /><Relationship Type="http://schemas.openxmlformats.org/officeDocument/2006/relationships/notesMaster" Target="/ppt/notesMasters/notesMaster1.xml" Id="R46e8b38ee55040e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f8f0ac3d72446cf" /><Relationship Type="http://schemas.openxmlformats.org/officeDocument/2006/relationships/notesMaster" Target="/ppt/notesMasters/notesMaster1.xml" Id="R1e487ddb22964b0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8ebb0043ba34f13" /><Relationship Type="http://schemas.openxmlformats.org/officeDocument/2006/relationships/notesMaster" Target="/ppt/notesMasters/notesMaster1.xml" Id="Rfb4d51093bc64a1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a910f0224774e67" /><Relationship Type="http://schemas.openxmlformats.org/officeDocument/2006/relationships/notesMaster" Target="/ppt/notesMasters/notesMaster1.xml" Id="R2469470ed6664a1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35c9295ff744784" /><Relationship Type="http://schemas.openxmlformats.org/officeDocument/2006/relationships/notesMaster" Target="/ppt/notesMasters/notesMaster1.xml" Id="Rd7731c11a56c482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7d84f1c0cc54401" /><Relationship Type="http://schemas.openxmlformats.org/officeDocument/2006/relationships/notesMaster" Target="/ppt/notesMasters/notesMaster1.xml" Id="Rc600957630cf4b7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ff9b1f3ed6749d2" /><Relationship Type="http://schemas.openxmlformats.org/officeDocument/2006/relationships/notesMaster" Target="/ppt/notesMasters/notesMaster1.xml" Id="Ref5ef9d42e17407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797332d67ce491f" /><Relationship Type="http://schemas.openxmlformats.org/officeDocument/2006/relationships/notesMaster" Target="/ppt/notesMasters/notesMaster1.xml" Id="Rc02e92372dfa4cc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929a00a58874880" /><Relationship Type="http://schemas.openxmlformats.org/officeDocument/2006/relationships/notesMaster" Target="/ppt/notesMasters/notesMaster1.xml" Id="R9787d20f4c9d472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ad532ba5867467d" /><Relationship Type="http://schemas.openxmlformats.org/officeDocument/2006/relationships/notesMaster" Target="/ppt/notesMasters/notesMaster1.xml" Id="R4f509b34c6614df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7908ad473554926" /><Relationship Type="http://schemas.openxmlformats.org/officeDocument/2006/relationships/notesMaster" Target="/ppt/notesMasters/notesMaster1.xml" Id="R0ed6a895064b4f6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0e9c205426e4fc9" /><Relationship Type="http://schemas.openxmlformats.org/officeDocument/2006/relationships/notesMaster" Target="/ppt/notesMasters/notesMaster1.xml" Id="R23ca1a4843ac43b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adc972028434c45" /><Relationship Type="http://schemas.openxmlformats.org/officeDocument/2006/relationships/notesMaster" Target="/ppt/notesMasters/notesMaster1.xml" Id="Rbb3dbf71b28045d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bccabc864604df4" /><Relationship Type="http://schemas.openxmlformats.org/officeDocument/2006/relationships/notesMaster" Target="/ppt/notesMasters/notesMaster1.xml" Id="R57b5d929313e456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276b537e2894d9a" /><Relationship Type="http://schemas.openxmlformats.org/officeDocument/2006/relationships/notesMaster" Target="/ppt/notesMasters/notesMaster1.xml" Id="Rd6d29e09257c481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78b3e6e16786410b" /><Relationship Type="http://schemas.openxmlformats.org/officeDocument/2006/relationships/notesMaster" Target="/ppt/notesMasters/notesMaster1.xml" Id="Rf58a790550984f81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46168bcad4f40c1" /><Relationship Type="http://schemas.openxmlformats.org/officeDocument/2006/relationships/notesMaster" Target="/ppt/notesMasters/notesMaster1.xml" Id="R821542e5e076498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81fb340f18649ad" /><Relationship Type="http://schemas.openxmlformats.org/officeDocument/2006/relationships/notesMaster" Target="/ppt/notesMasters/notesMaster1.xml" Id="R961a43529c6545b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19f50f5b684b4d3d" /><Relationship Type="http://schemas.openxmlformats.org/officeDocument/2006/relationships/notesMaster" Target="/ppt/notesMasters/notesMaster1.xml" Id="R2d4b56c37b7a430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c4e391e4194480c" /><Relationship Type="http://schemas.openxmlformats.org/officeDocument/2006/relationships/notesMaster" Target="/ppt/notesMasters/notesMaster1.xml" Id="R5bed1d112265441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7e99ab71f604a47" /><Relationship Type="http://schemas.openxmlformats.org/officeDocument/2006/relationships/notesMaster" Target="/ppt/notesMasters/notesMaster1.xml" Id="Rd50e489735754477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c8ac95fea99d43b8" /><Relationship Type="http://schemas.openxmlformats.org/officeDocument/2006/relationships/notesMaster" Target="/ppt/notesMasters/notesMaster1.xml" Id="Rc7dc7262b5cd415b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6974c5bf6ce4be4" /><Relationship Type="http://schemas.openxmlformats.org/officeDocument/2006/relationships/notesMaster" Target="/ppt/notesMasters/notesMaster1.xml" Id="R416b41e534784e5c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85a0941e8042472a" /><Relationship Type="http://schemas.openxmlformats.org/officeDocument/2006/relationships/notesMaster" Target="/ppt/notesMasters/notesMaster1.xml" Id="Rc8c180a354ec46da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e1b2e892891341b7" /><Relationship Type="http://schemas.openxmlformats.org/officeDocument/2006/relationships/notesMaster" Target="/ppt/notesMasters/notesMaster1.xml" Id="R17df225222c3418e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4dd666fa881347b2" /><Relationship Type="http://schemas.openxmlformats.org/officeDocument/2006/relationships/notesMaster" Target="/ppt/notesMasters/notesMaster1.xml" Id="R8fb014805dfe4647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084018dacb224fc1" /><Relationship Type="http://schemas.openxmlformats.org/officeDocument/2006/relationships/notesMaster" Target="/ppt/notesMasters/notesMaster1.xml" Id="R0c41eafde17f4abb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a031229e15624117" /><Relationship Type="http://schemas.openxmlformats.org/officeDocument/2006/relationships/notesMaster" Target="/ppt/notesMasters/notesMaster1.xml" Id="Rac4f845938434730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39bdcff63c8b41fd" /><Relationship Type="http://schemas.openxmlformats.org/officeDocument/2006/relationships/notesMaster" Target="/ppt/notesMasters/notesMaster1.xml" Id="Rc416ebd6128449ac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e83b3015fa8b40e8" /><Relationship Type="http://schemas.openxmlformats.org/officeDocument/2006/relationships/notesMaster" Target="/ppt/notesMasters/notesMaster1.xml" Id="Rf89a612a27ec4833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ace4cee6f5b94445" /><Relationship Type="http://schemas.openxmlformats.org/officeDocument/2006/relationships/notesMaster" Target="/ppt/notesMasters/notesMaster1.xml" Id="R725e16a6aa2b4b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План на полный квартал. Факт октября на дату защиты в файлах не выделен.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Бюджет по статьям: C:E, строки 25, 41, 55/56, 78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Привлечение = лидген + агентские комиссии. Бренд, содержание и оформление показаны отдельно.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продаж (источник): C6:E7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Договоры: 393,414 млн ₽. Эскроу: 268,683 млн ₽. Доступные компании деньги финансовая служба подтверждает отдельно.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Бюджет по статьям: лидген + комиссии, C:E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Полный октябрь в плане. Остаток к оплате нельзя определить без факта и реестра принятых обязательств.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Бюджет по статьям: C:E, строки 25, 41, 51/52, 55/56, 69, 78, 82, 84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27,868 млн ₽ без ФОТ. С субсидиями 29,085 млн ₽. Нули ФОТ в файлах означают незаполненный расчёт.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Уточнение пользователя + расчёт от суммы лидгена и комиссий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База сравнения 18,298 млн ₽. Перенос из лидгена в комиссии 2,701 млн ₽. Бренд и содержание в эту базу не входят.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Бюджет по статьям + budget_q4_2026.json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Оба расчёта сохранены. Исходные таблицы не изменены.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Параметры B5:B6 + Бюджет по статьям C6:E6, C55:E55 / C56:E56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Резерв рассчитывается от плана. Выплаты привязать к подтверждённым агентским сделкам и договорным условиям.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База — факт по месяцам F11:F13 + Параметры B5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Доли сделок и выручки имеют разные базы. У Пьермонта модель зависит от восстановления агентского канала.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Бюджет по статьям C17:E25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Суммы из файлов. Результат услуг и тарифы подрядчиков раскрыты в расчётной записке. Нулевые статьи не включены.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Бюджет по статьям C17:E25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Суммы из файлов. Результат услуг и тарифы подрядчиков раскрыты в расчётной записке. Нулевые статьи не включены.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Бюджет по статьям C31:E41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У Зари PR для риелторов 200 тыс. ₽ в ноябре входит в бренд. У Пьермонта медийка ноября и декабря задана вручную.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Бюджет по статьям C31:E41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У Зари PR для риелторов 200 тыс. ₽ в ноябре входит в бренд. У Пьермонта медийка ноября и декабря задана вручную.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Бюджет по статьям C48:E84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«Прочее»: 450 тыс. ₽ по Заре и 600 тыс. ₽ по Пьермонту. До детализации сумма условная.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Бюджет по статьям: C14:E17, C30:E31, C48:E49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Расхождения не исправлены скрыто. Они вынесены на отдельное решение.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Параметры, Модель лидов C11:E13, База — факт по месяцам F4/F6 и F12/F6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Исторический CPL включает весь маркетинг. Он не доказывает стоимость лида Директа.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Бюджет по статьям C14:E17 + арифметика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82,5 лида × 6% = 4,95 ожидаемой сделки до учёта лага. Модель требует 6 сделок и резерв лидов.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База — факт по месяцам F6:F19 + Параметры B7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Это агрегатные отношения за период. Когортная конверсия и срок сделки в таблицах не раскрыты.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Расчёт от квартальных сумм и плана квартир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План содержит дробные квартирные эквиваленты. Показатели условны до выполнения плана и не доказывают окупаемость.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CR: 19/455 и 11/389. Лиды: округление вверх(6/CR × 1,15).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Математический сценарий, не прогноз. У Пьермонта текущий бюджет ещё не финансирует сами 117 лидов.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Квартальные суммы коммерческих расходов и бренда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Показан стресс-тест. Это не согласованный план отключений. Комиссии за состоявшиеся сделки защищены условиями договоров.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Исследование: S25, S26, S28, S29, S30</a:t>
            </a:r>
          </a:p>
          <a:p xmlns:a="http://schemas.openxmlformats.org/drawingml/2006/main">
            <a:r>
              <a:t>S25: МИР КВАРТИР: июль 2026 https://www.mirkvartir.ru/journal/analytics/2026/08/04/novostrojki-v-iyule/</a:t>
            </a:r>
          </a:p>
          <a:p xmlns:a="http://schemas.openxmlformats.org/drawingml/2006/main">
            <a:r>
              <a:t>S26: МИР КВАРТИР: август 2026 https://www.mirkvartir.ru/journal/analytics/2026/09/02/novostrojki-v/</a:t>
            </a:r>
          </a:p>
          <a:p xmlns:a="http://schemas.openxmlformats.org/drawingml/2006/main">
            <a:r>
              <a:t>S28: Банк России: региональное количество ИЖК https://www.cbr.ru/vfs/statistics/BankSector/Mortgage/02_10_Quantity_mortgage.xlsx</a:t>
            </a:r>
          </a:p>
          <a:p xmlns:a="http://schemas.openxmlformats.org/drawingml/2006/main">
            <a:r>
              <a:t>S29: Банк России: региональное количество ИЖК под ДДУ https://www.cbr.ru/vfs/statistics/BankSector/Mortgage/02_15_Quantity_scpa_mortgage.xlsx</a:t>
            </a:r>
          </a:p>
          <a:p xmlns:a="http://schemas.openxmlformats.org/drawingml/2006/main">
            <a:r>
              <a:t>S30: Банк России: ставки ИЖК под ДДУ https://www.cbr.ru/vfs/statistics/BankSector/Mortgage/02_17_Rates_scpa_mortgage.xlsx</a:t>
            </a:r>
          </a:p>
          <a:p xmlns:a="http://schemas.openxmlformats.org/drawingml/2006/main">
            <a:r>
              <a:t>Цены предложения +0,98% за август. Региональная ипотека не равна продажам Уфы.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Исследование: S04, S06, S07</a:t>
            </a:r>
          </a:p>
          <a:p xmlns:a="http://schemas.openxmlformats.org/drawingml/2006/main">
            <a:r>
              <a:t>S04: Заря, Яндекс Недвижимость https://realty.yandex.ru/ufa/kupit/novostrojka/zarya-4544555/</a:t>
            </a:r>
          </a:p>
          <a:p xmlns:a="http://schemas.openxmlformats.org/drawingml/2006/main">
            <a:r>
              <a:t>S06: Атлантис, Яндекс Недвижимость https://realty.yandex.ru/ufa/kupit/novostrojka/atlantis-3994529/</a:t>
            </a:r>
          </a:p>
          <a:p xmlns:a="http://schemas.openxmlformats.org/drawingml/2006/main">
            <a:r>
              <a:t>S07: Холмогоры, Яндекс Недвижимость https://realty.yandex.ru/ufa/kupit/novostrojka/holmogory-3710187/</a:t>
            </a:r>
          </a:p>
          <a:p xmlns:a="http://schemas.openxmlformats.org/drawingml/2006/main">
            <a:r>
              <a:t>Групповые средние. Чистое повышение цены не выделено. Готовность и состав лотов отличаются.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Исследование: S13, S18, S23</a:t>
            </a:r>
          </a:p>
          <a:p xmlns:a="http://schemas.openxmlformats.org/drawingml/2006/main">
            <a:r>
              <a:t>S13: Родина Парк, лот 229 https://tretiitrest.ru/flats/393_229/</a:t>
            </a:r>
          </a:p>
          <a:p xmlns:a="http://schemas.openxmlformats.org/drawingml/2006/main">
            <a:r>
              <a:t>S18: Динамика, подбор квартир https://dinamica-ufa.ru/vybor-po-parametram/</a:t>
            </a:r>
          </a:p>
          <a:p xmlns:a="http://schemas.openxmlformats.org/drawingml/2006/main">
            <a:r>
              <a:t>S23: Биосфера Высота, адрес на 2ГИС https://2gis.ru/ufa/geo/70030076165439923</a:t>
            </a:r>
          </a:p>
          <a:p xmlns:a="http://schemas.openxmlformats.org/drawingml/2006/main">
            <a:r>
              <a:t>Это примеры близкой площади. Они различаются по классу, локации и готовности. Цена Пьермонта требует объяснения ценности.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Исследование: affordability_scenarios.json, S04, S05, S32, S33</a:t>
            </a:r>
          </a:p>
          <a:p xmlns:a="http://schemas.openxmlformats.org/drawingml/2006/main">
            <a:r>
              <a:t>S04: Заря, Яндекс Недвижимость https://realty.yandex.ru/ufa/kupit/novostrojka/zarya-4544555/</a:t>
            </a:r>
          </a:p>
          <a:p xmlns:a="http://schemas.openxmlformats.org/drawingml/2006/main">
            <a:r>
              <a:t>S05: Пьермонт, Яндекс Недвижимость https://realty.yandex.ru/ufa/kupit/novostrojka/permont-4080787/</a:t>
            </a:r>
          </a:p>
          <a:p xmlns:a="http://schemas.openxmlformats.org/drawingml/2006/main">
            <a:r>
              <a:t>S32: ДОМ.РФ: семейная ипотека https://xn--d1aqf.xn--p1ai/mortgage/family-mortgage/</a:t>
            </a:r>
          </a:p>
          <a:p xmlns:a="http://schemas.openxmlformats.org/drawingml/2006/main">
            <a:r>
              <a:t>S33: Банк ДОМ.РФ: семейная ипотека https://domrfbank.ru/mortgage/programs/family-mortgage/</a:t>
            </a:r>
          </a:p>
          <a:p xmlns:a="http://schemas.openxmlformats.org/drawingml/2006/main">
            <a:r>
              <a:t>При лимите кредита 6 млн ₽ и взносе ≥20,1%. Право на программу индивидуально. Рекламный платёж не заменяет полный график.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Рекомендации по исследованию и составу бюджета Зари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Ожидаемый эффект действий требует проверки. Заранее утверждается стоимость сделки и срок оценки.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Бюджет Пьермонта + историческая воронка + исследование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Исторически собственный ОП дал 11 из 13 сделок. Восстановление агентского канала ещё нужно доказать.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Вопросы CEO №5, №8, №22, №23 + границы данных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Расходы 2027 года в запрос не включены. Лаг результата может выходить за границу квартала.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Квартальные суммы и выявленные расхождения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Утверждение лимита не равно доказательству эффективности. Неподтверждённые статьи имеют условный статус.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Вопросы пользователя + бюджеты C:E + исследование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Подробный ответ и основания находятся в расчётной записке.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Вопросы пользователя + бюджеты C:E + исследование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Подробный ответ и основания находятся в расчётной записке.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Вопросы пользователя + бюджеты C:E + исследование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Подробный ответ и основания находятся в расчётной записке.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Вопросы пользователя + бюджеты C:E + исследование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Подробный ответ и основания находятся в расчётной записке.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Вопросы пользователя + бюджеты C:E + исследование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Подробный ответ и основания находятся в расчётной записке.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Вопросы пользователя + бюджеты C:E + исследование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Подробный ответ и основания находятся в расчётной записке.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Вопросы пользователя + бюджеты C:E + исследование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Подробный ответ и основания находятся в расчётной записке.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Вопросы пользователя + бюджеты C:E + исследование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Подробный ответ и основания находятся в расчётной записке.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Вопросы пользователя + бюджеты C:E + исследование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Подробный ответ и основания находятся в расчётной записке.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Вопросы пользователя + бюджеты C:E + исследование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Подробный ответ и основания находятся в расчётной записке.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Вопросы пользователя + бюджеты C:E + исследование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Подробный ответ и основания находятся в расчётной записке.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Вопросы пользователя + бюджеты C:E + исследование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Подробный ответ и основания находятся в расчётной записке.</a:t>
            </a:r>
          </a:p>
          <a:p xmlns:a="http://schemas.openxmlformats.org/drawingml/2006/main">
            <a:r>
              <a:t>Дата подготовки 14.10.2026. Бюджет: только октябрь, ноябрь, декабрь 2026.</a:t>
            </a:r>
          </a:p>
          <a:p xmlns:a="http://schemas.openxmlformats.org/drawingml/2006/main">
            <a:r>
              <a:t>Источники финансов: предоставленные снимки Бюджетирование_ЖК_Заря_2026_2029.xlsx и Бюджетирование_ЖК_Пьермонт_2026_2029.xlsx.</a:t>
            </a:r>
          </a:p>
          <a:p xmlns:a="http://schemas.openxmlformats.org/drawingml/2006/main">
            <a:r>
              <a:t>Полные ответы: research/budget_defense_q4_2026.md. Источники рынка: data/source_registry.json.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ca6b2ea40540e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a3211c730e437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6c1d58e3bb4c9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0b3c7b4af541d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4e9f8de786421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9bdca83a7443e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6580D20-EB18-420F-8F55-49CFB45E76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F3957F5-B144-4437-AD46-4B8CEC4163E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A448266-9C83-4D51-9A60-E5E22AAD66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0F33F0C-E243-4DC9-9B76-793BB9818A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766912F-B732-4731-B934-D47CC97E8FE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CA6460A-CDD5-4977-A410-7B93815931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47FF0D8-21CF-4C5F-B0AF-8D2630FA0D3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77C6C91-BCA5-4616-932C-03C12C2FD6E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4465AD3-3362-467F-AE2A-44E016EB18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F024E4E-C469-48CA-8931-3808E7A1268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d31124d4eea45d9" /><Relationship Type="http://schemas.openxmlformats.org/officeDocument/2006/relationships/slideLayout" Target="/ppt/slideLayouts/slideLayout1.xml" Id="R80e88efd0cc24cc1" /><Relationship Type="http://schemas.openxmlformats.org/officeDocument/2006/relationships/slideLayout" Target="/ppt/slideLayouts/slideLayout2.xml" Id="R5e947415f0a8401a" /><Relationship Type="http://schemas.openxmlformats.org/officeDocument/2006/relationships/slideLayout" Target="/ppt/slideLayouts/slideLayout3.xml" Id="R5bf2307c2aa94b0e" /><Relationship Type="http://schemas.openxmlformats.org/officeDocument/2006/relationships/slideLayout" Target="/ppt/slideLayouts/slideLayout4.xml" Id="R311a265e4763439c" /><Relationship Type="http://schemas.openxmlformats.org/officeDocument/2006/relationships/slideLayout" Target="/ppt/slideLayouts/slideLayout5.xml" Id="R4e29f5ca7dda461c" /><Relationship Type="http://schemas.openxmlformats.org/officeDocument/2006/relationships/slideLayout" Target="/ppt/slideLayouts/slideLayout6.xml" Id="R6e0392ae47334e8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0e88efd0cc24cc1"/>
    <p:sldLayoutId xmlns:r="http://schemas.openxmlformats.org/officeDocument/2006/relationships" id="2147483650" r:id="R5e947415f0a8401a"/>
    <p:sldLayoutId xmlns:r="http://schemas.openxmlformats.org/officeDocument/2006/relationships" id="2147483651" r:id="R5bf2307c2aa94b0e"/>
    <p:sldLayoutId xmlns:r="http://schemas.openxmlformats.org/officeDocument/2006/relationships" id="2147483652" r:id="R311a265e4763439c"/>
    <p:sldLayoutId xmlns:r="http://schemas.openxmlformats.org/officeDocument/2006/relationships" id="2147483653" r:id="R4e29f5ca7dda461c"/>
    <p:sldLayoutId xmlns:r="http://schemas.openxmlformats.org/officeDocument/2006/relationships" id="2147483654" r:id="R6e0392ae47334e8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001d17afb74411" /><Relationship Type="http://schemas.openxmlformats.org/officeDocument/2006/relationships/notesSlide" Target="/ppt/notesSlides/notesSlide1.xml" Id="R4e5e11abef2e4af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fe758dfacd40c4" /><Relationship Type="http://schemas.openxmlformats.org/officeDocument/2006/relationships/notesSlide" Target="/ppt/notesSlides/notesSlide2.xml" Id="Ref3dcd5f5f3848d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a40206388945b0" /><Relationship Type="http://schemas.openxmlformats.org/officeDocument/2006/relationships/notesSlide" Target="/ppt/notesSlides/notesSlide3.xml" Id="Ra88d3442d5dd418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c443f4abec47c7" /><Relationship Type="http://schemas.openxmlformats.org/officeDocument/2006/relationships/notesSlide" Target="/ppt/notesSlides/notesSlide4.xml" Id="Reba649f2ac164ca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79a1eeff084b62" /><Relationship Type="http://schemas.openxmlformats.org/officeDocument/2006/relationships/notesSlide" Target="/ppt/notesSlides/notesSlide5.xml" Id="R8ec667c5e3be4e1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5ebbe228914f5d" /><Relationship Type="http://schemas.openxmlformats.org/officeDocument/2006/relationships/notesSlide" Target="/ppt/notesSlides/notesSlide6.xml" Id="R31f25e4b653c4fa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aa21f0976b47b7" /><Relationship Type="http://schemas.openxmlformats.org/officeDocument/2006/relationships/notesSlide" Target="/ppt/notesSlides/notesSlide7.xml" Id="Raeac894f30f0481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5148ba271349e6" /><Relationship Type="http://schemas.openxmlformats.org/officeDocument/2006/relationships/notesSlide" Target="/ppt/notesSlides/notesSlide8.xml" Id="R0fd1130839024af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d96252762b4623" /><Relationship Type="http://schemas.openxmlformats.org/officeDocument/2006/relationships/notesSlide" Target="/ppt/notesSlides/notesSlide9.xml" Id="R71f9907f9f9b44a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5a4085cb224075" /><Relationship Type="http://schemas.openxmlformats.org/officeDocument/2006/relationships/notesSlide" Target="/ppt/notesSlides/notesSlide10.xml" Id="Rcbc4db072a4a45a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ef99fa88f0457c" /><Relationship Type="http://schemas.openxmlformats.org/officeDocument/2006/relationships/notesSlide" Target="/ppt/notesSlides/notesSlide11.xml" Id="R3947567ea4d6423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4da418f2af4b93" /><Relationship Type="http://schemas.openxmlformats.org/officeDocument/2006/relationships/notesSlide" Target="/ppt/notesSlides/notesSlide12.xml" Id="R94e5f26c202e487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a83b561cd74039" /><Relationship Type="http://schemas.openxmlformats.org/officeDocument/2006/relationships/notesSlide" Target="/ppt/notesSlides/notesSlide13.xml" Id="Re4fe4069790547b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b50d3afe404f4a" /><Relationship Type="http://schemas.openxmlformats.org/officeDocument/2006/relationships/notesSlide" Target="/ppt/notesSlides/notesSlide14.xml" Id="Re7a39c5d82904bf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74ec23bbf9410d" /><Relationship Type="http://schemas.openxmlformats.org/officeDocument/2006/relationships/notesSlide" Target="/ppt/notesSlides/notesSlide15.xml" Id="R15a3cf39fc7b4f1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2d5ec086ba4089" /><Relationship Type="http://schemas.openxmlformats.org/officeDocument/2006/relationships/notesSlide" Target="/ppt/notesSlides/notesSlide16.xml" Id="Rfb3435933fb0482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c37c8c123f46f7" /><Relationship Type="http://schemas.openxmlformats.org/officeDocument/2006/relationships/notesSlide" Target="/ppt/notesSlides/notesSlide17.xml" Id="Redbc6021b5694c2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662caa12a34c97" /><Relationship Type="http://schemas.openxmlformats.org/officeDocument/2006/relationships/notesSlide" Target="/ppt/notesSlides/notesSlide18.xml" Id="Ra9ced80e6c9844b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4e20ca2cca42b8" /><Relationship Type="http://schemas.openxmlformats.org/officeDocument/2006/relationships/notesSlide" Target="/ppt/notesSlides/notesSlide19.xml" Id="R5728d1f83869431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f31a40b90746e7" /><Relationship Type="http://schemas.openxmlformats.org/officeDocument/2006/relationships/notesSlide" Target="/ppt/notesSlides/notesSlide20.xml" Id="Rcb4e5a6b70544a4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6ba2e56ac544d2" /><Relationship Type="http://schemas.openxmlformats.org/officeDocument/2006/relationships/notesSlide" Target="/ppt/notesSlides/notesSlide21.xml" Id="Reb02a40864ae465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7aa433bc804da6" /><Relationship Type="http://schemas.openxmlformats.org/officeDocument/2006/relationships/notesSlide" Target="/ppt/notesSlides/notesSlide22.xml" Id="R691501ef947548a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eb8a650d584d27" /><Relationship Type="http://schemas.openxmlformats.org/officeDocument/2006/relationships/notesSlide" Target="/ppt/notesSlides/notesSlide23.xml" Id="R3de1bd4ba3234e99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c50276a5b048f6" /><Relationship Type="http://schemas.openxmlformats.org/officeDocument/2006/relationships/notesSlide" Target="/ppt/notesSlides/notesSlide24.xml" Id="R3fb60b58b3af4de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0dad7e787f470c" /><Relationship Type="http://schemas.openxmlformats.org/officeDocument/2006/relationships/notesSlide" Target="/ppt/notesSlides/notesSlide25.xml" Id="Rb2c226b6ffd1450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cb0785848d429a" /><Relationship Type="http://schemas.openxmlformats.org/officeDocument/2006/relationships/notesSlide" Target="/ppt/notesSlides/notesSlide26.xml" Id="R3b629e0ddc16473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f772b62a87418e" /><Relationship Type="http://schemas.openxmlformats.org/officeDocument/2006/relationships/notesSlide" Target="/ppt/notesSlides/notesSlide27.xml" Id="R115d0bd6505a4d6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7ac622caac4aea" /><Relationship Type="http://schemas.openxmlformats.org/officeDocument/2006/relationships/notesSlide" Target="/ppt/notesSlides/notesSlide28.xml" Id="R98f0e0c4c8a74203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e7cdbd1e544529" /><Relationship Type="http://schemas.openxmlformats.org/officeDocument/2006/relationships/notesSlide" Target="/ppt/notesSlides/notesSlide29.xml" Id="Rb72f088c9ae54bde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72979d46b54dcf" /><Relationship Type="http://schemas.openxmlformats.org/officeDocument/2006/relationships/notesSlide" Target="/ppt/notesSlides/notesSlide30.xml" Id="R5d4d81e6806d49ce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27c5b031c74a53" /><Relationship Type="http://schemas.openxmlformats.org/officeDocument/2006/relationships/notesSlide" Target="/ppt/notesSlides/notesSlide31.xml" Id="Ree0c85c34fc6497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3a9629cd4b49a5" /><Relationship Type="http://schemas.openxmlformats.org/officeDocument/2006/relationships/notesSlide" Target="/ppt/notesSlides/notesSlide32.xml" Id="R2db0c3df042a4edf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d1ed00dcab4303" /><Relationship Type="http://schemas.openxmlformats.org/officeDocument/2006/relationships/notesSlide" Target="/ppt/notesSlides/notesSlide33.xml" Id="Rf7a2f1918d43448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00203359e54cb3" /><Relationship Type="http://schemas.openxmlformats.org/officeDocument/2006/relationships/notesSlide" Target="/ppt/notesSlides/notesSlide34.xml" Id="R2077f50138e047ca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2f51d2822d4d73" /><Relationship Type="http://schemas.openxmlformats.org/officeDocument/2006/relationships/notesSlide" Target="/ppt/notesSlides/notesSlide35.xml" Id="Rbcd357bbd9a84d6f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fd582580c64767" /><Relationship Type="http://schemas.openxmlformats.org/officeDocument/2006/relationships/notesSlide" Target="/ppt/notesSlides/notesSlide36.xml" Id="R2eedeee257e04e76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43e38bc23840d6" /><Relationship Type="http://schemas.openxmlformats.org/officeDocument/2006/relationships/notesSlide" Target="/ppt/notesSlides/notesSlide37.xml" Id="R07441cc4d75a4a43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e9c71d08c340a2" /><Relationship Type="http://schemas.openxmlformats.org/officeDocument/2006/relationships/notesSlide" Target="/ppt/notesSlides/notesSlide38.xml" Id="Rc45c6b322f3f405f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13faa84b9242df" /><Relationship Type="http://schemas.openxmlformats.org/officeDocument/2006/relationships/notesSlide" Target="/ppt/notesSlides/notesSlide39.xml" Id="R0ccd6839665c4c8f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c307c1a52b43ce" /><Relationship Type="http://schemas.openxmlformats.org/officeDocument/2006/relationships/notesSlide" Target="/ppt/notesSlides/notesSlide40.xml" Id="R4de8412f75d34e83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f3ed106dce4d72" /><Relationship Type="http://schemas.openxmlformats.org/officeDocument/2006/relationships/notesSlide" Target="/ppt/notesSlides/notesSlide41.xml" Id="R2a1ceef69792414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22CB1F-B7BC-4837-A3AD-27C312751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Защита бюджета</a:t>
            </a:r>
          </a:p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октябрь–декабрь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B670E-5086-4CB5-A6E4-41AEC5DAE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8FE494-6438-4A74-9C44-E88784C5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План на полный квартал. Факт октября на дату защиты в файлах не выделен.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DF1879-541B-4A8C-9382-4D1A2A07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30003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ХартДевелопмент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66DE04-6D20-41DC-9087-77D4991A4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981200"/>
            <a:ext cx="748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Заря и Пьермонт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B01D96-3236-4219-A3EF-66A20B252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0003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На привлечение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9DABAC-8C25-4EFF-A01C-D938F7B85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162300"/>
            <a:ext cx="748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18,298 млн ₽ по исходным файлам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07F32A-1DB5-467F-AB3F-D76D9D577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0003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Решение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5B6F97-DDA2-4235-9BB3-ECF00B231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343400"/>
            <a:ext cx="748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Месячные лимиты и условия расходования</a:t>
            </a:r>
          </a:p>
        </p:txBody>
      </p:sp>
    </p:spTree>
    <p:extLst>
      <p:ext uri="{BB962C8B-B14F-4D97-AF65-F5344CB8AC3E}">
        <p14:creationId xmlns:p14="http://schemas.microsoft.com/office/powerpoint/2010/main" val="21352784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F897E0-D972-413F-9285-F49B7C70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Запрос на квартал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1D32C7-52B8-47BC-B16A-E137C3CBB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7BAF8A-9C55-4018-847D-4902F8D6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Привлечение = лидген + агентские комиссии. Бренд, содержание и оформление показаны отдельно.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892F2B-F08F-4E3F-A30D-51EB13ECAADB}"/>
              </a:ext>
            </a:extLst>
          </p:cNvPr>
          <p:cNvGraphicFramePr/>
          <p:nvPr/>
        </p:nvGraphicFramePr>
        <p:xfrm>
          <a:off xmlns:a="http://schemas.openxmlformats.org/drawingml/2006/main" x="685800" y="1847850"/>
          <a:ext xmlns:a="http://schemas.openxmlformats.org/drawingml/2006/main" cx="10820400" cy="3314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2019300"/>
                <a:gridCol w="2019300"/>
                <a:gridCol w="2019300"/>
              </a:tblGrid>
              <a:tr h="5524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млн ₽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Заря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Пьермонт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Всего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Лидогенерация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4,149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4,042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8,190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Комиссии агентам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3,756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6,352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10,108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Привлечение всего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7,904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10,394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18,298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Бренд отдельно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2,049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1,991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4,040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Коммерческий блок без ФОТ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12,378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15,490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27,868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916675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1BF8B1-750E-4C29-8284-47E511C65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План продаж и поступлений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B3A6E8-B3D2-4829-B015-2CECFC6F7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B8312C-3691-4560-92F8-1EFA0BB3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Договоры: 393,414 млн ₽. Эскроу: 268,683 млн ₽. Доступные компании деньги финансовая служба подтверждает отдельно.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3B5804-9671-4A8F-B231-F7CFC1B320F4}"/>
              </a:ext>
            </a:extLst>
          </p:cNvPr>
          <p:cNvGraphicFramePr/>
          <p:nvPr/>
        </p:nvGraphicFramePr>
        <p:xfrm>
          <a:off xmlns:a="http://schemas.openxmlformats.org/drawingml/2006/main" x="685800" y="1847850"/>
          <a:ext xmlns:a="http://schemas.openxmlformats.org/drawingml/2006/main" cx="10820400" cy="2762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19500"/>
                <a:gridCol w="1800225"/>
                <a:gridCol w="1800225"/>
                <a:gridCol w="1800225"/>
                <a:gridCol w="1800225"/>
              </a:tblGrid>
              <a:tr h="5524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Проект / млн ₽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Октябрь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Ноябрь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Декабрь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Квартал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Заря / договоры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38,089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44,201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51,846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134,136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Пьермонт / договоры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93,144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81,027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85,107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259,278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Заря / эскроу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24,758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28,730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33,700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87,188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Пьермонт / эскроу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65,201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56,719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59,575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181,495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344485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6D936E-940B-4653-817C-24A039F47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Помесячные лимиты привлечения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CC72AC-BAFC-47A0-9A5A-BAFA6878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EB2509-B97B-4E7C-9BE9-339229EDD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Полный октябрь в плане. Остаток к оплате нельзя определить без факта и реестра принятых обязательств.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C492FF-F1EB-429B-9589-B3F769322907}"/>
              </a:ext>
            </a:extLst>
          </p:cNvPr>
          <p:cNvGraphicFramePr/>
          <p:nvPr/>
        </p:nvGraphicFramePr>
        <p:xfrm>
          <a:off xmlns:a="http://schemas.openxmlformats.org/drawingml/2006/main" x="685800" y="1847850"/>
          <a:ext xmlns:a="http://schemas.openxmlformats.org/drawingml/2006/main" cx="10820400" cy="2209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19500"/>
                <a:gridCol w="1800225"/>
                <a:gridCol w="1800225"/>
                <a:gridCol w="1800225"/>
                <a:gridCol w="1800225"/>
              </a:tblGrid>
              <a:tr h="5524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млн ₽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Октябрь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Ноябрь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Декабрь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Квартал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Заря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2,449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2,620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2,835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7,904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Пьермонт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3,629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3,332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3,432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10,394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Всего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6,079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5,953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6,267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18,298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642670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4306E1-6031-4608-B6F8-57796D9CA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Все расходы квартала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37B16F-3C60-4411-8776-518783383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67FEE0-F60B-4A9B-A22F-00F4C4C10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27,868 млн ₽ без ФОТ. С субсидиями 29,085 млн ₽. Нули ФОТ в файлах означают незаполненный расчёт.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206ECC-EC5B-4131-A215-890C98734BEE}"/>
              </a:ext>
            </a:extLst>
          </p:cNvPr>
          <p:cNvGraphicFramePr/>
          <p:nvPr/>
        </p:nvGraphicFramePr>
        <p:xfrm>
          <a:off xmlns:a="http://schemas.openxmlformats.org/drawingml/2006/main" x="685800" y="1847850"/>
          <a:ext xmlns:a="http://schemas.openxmlformats.org/drawingml/2006/main" cx="10820400" cy="3771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2019300"/>
                <a:gridCol w="2019300"/>
                <a:gridCol w="2019300"/>
              </a:tblGrid>
              <a:tr h="538843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млн ₽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Заря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Пьермонт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Всего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Привлечение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7,904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10,394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18,298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Бренд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2,049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1,991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4,040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Содержание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1,561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2,665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4,225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Оформление сделок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0,864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0,440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1,304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Коммерческие без ФОТ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12,378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15,490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27,868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Субсидии вне итога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0,417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0,800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1,217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30246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640C78-E81E-4EA2-9E28-A32ED168C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70/30: исходные суммы и новое правило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1AA480-FD55-4D89-8481-6EE77B2EB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C62BEA-E907-4512-AB9E-1039F21B7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База сравнения 18,298 млн ₽. Перенос из лидгена в комиссии 2,701 млн ₽. Бренд и содержание в эту базу не входят.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5D1F24-36A3-42CB-BFB8-57F2B4C42382}"/>
              </a:ext>
            </a:extLst>
          </p:cNvPr>
          <p:cNvGraphicFramePr/>
          <p:nvPr/>
        </p:nvGraphicFramePr>
        <p:xfrm>
          <a:off xmlns:a="http://schemas.openxmlformats.org/drawingml/2006/main" x="685800" y="1847850"/>
          <a:ext xmlns:a="http://schemas.openxmlformats.org/drawingml/2006/main" cx="10820400" cy="2762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2019300"/>
                <a:gridCol w="2019300"/>
                <a:gridCol w="2019300"/>
              </a:tblGrid>
              <a:tr h="5524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млн ₽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Заря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Пьермонт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Всего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Агенты по файлам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3,756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6,352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10,108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Лидген по файлам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4,149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4,042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8,190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Агенты при 70% расходов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5,533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7,276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12,809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Лидген при 30% расходов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2,371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3,118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5,490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744767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489F25-586C-46B2-B3B2-55926DE77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Доли расходов по проектам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7B094A-BBDD-40FB-BFDD-E2D977334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FB0161-74DF-4BE2-9C07-4404FE48F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Оба расчёта сохранены. Исходные таблицы не изменены.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0AF7C7-4769-4C01-A984-5F1403529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30003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Заря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FC471B-5279-4015-8F21-7D10E0CE8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981200"/>
            <a:ext cx="748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По файлу: агенты 47,5%, лидген 52,5%. При 70/30 лидген сокращается на 1,777 млн ₽.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60DEF3-9DA8-4C4C-A21A-A33B21046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0003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Пьермонт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B360C6-F498-429B-A1B2-2EDEB88F4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162300"/>
            <a:ext cx="748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По файлу: агенты 61,1%, лидген 38,9%. При 70/30 лидген сокращается на 0,923 млн ₽.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8304E1-D593-439C-8EC9-CC9D5269A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0003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Вывод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3DE2A2-424E-4B37-99F7-692F55DC1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343400"/>
            <a:ext cx="748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70/30 расходов требует нового плана воронки. Оно само по себе не обосновывает выплаты агентам.</a:t>
            </a:r>
          </a:p>
        </p:txBody>
      </p:sp>
    </p:spTree>
    <p:extLst>
      <p:ext uri="{BB962C8B-B14F-4D97-AF65-F5344CB8AC3E}">
        <p14:creationId xmlns:p14="http://schemas.microsoft.com/office/powerpoint/2010/main" val="19200900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306874-E401-4253-B5F4-B11C387BF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Защита агентских комиссий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18FF5B-0EA4-4B53-9C48-8D0D0FE16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2EE185-07A1-4FC0-884C-3320B3BA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Резерв рассчитывается от плана. Выплаты привязать к подтверждённым агентским сделкам и договорным условиям.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ECAC3C-48D8-4B91-B69A-1B17CF3D0421}"/>
              </a:ext>
            </a:extLst>
          </p:cNvPr>
          <p:cNvGraphicFramePr/>
          <p:nvPr/>
        </p:nvGraphicFramePr>
        <p:xfrm>
          <a:off xmlns:a="http://schemas.openxmlformats.org/drawingml/2006/main" x="685800" y="1847850"/>
          <a:ext xmlns:a="http://schemas.openxmlformats.org/drawingml/2006/main" cx="10820400" cy="3314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29250"/>
                <a:gridCol w="2695575"/>
                <a:gridCol w="2695575"/>
              </a:tblGrid>
              <a:tr h="5524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Показатель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Заря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Пьермонт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План продаж, млн ₽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134,136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259,278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Доля агентской выручки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Ставка от агентской выручки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3,5%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Комиссии квартала, ₽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3 755 807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6 352 321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Расход от всех продаж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2,80%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2,45%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857941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B66BBE-FE4C-4FC9-A2E2-850A4D7BC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Агентский канал требует разных решений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8A39D3-4C7E-4199-9C66-C20125D36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915E64-2E88-4202-969B-3A0D1EB9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Доли сделок и выручки имеют разные базы. У Пьермонта модель зависит от восстановления агентского канала.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AC3D28-4A24-486F-9DCE-5AD69ED67C07}"/>
              </a:ext>
            </a:extLst>
          </p:cNvPr>
          <p:cNvGraphicFramePr/>
          <p:nvPr/>
        </p:nvGraphicFramePr>
        <p:xfrm>
          <a:off xmlns:a="http://schemas.openxmlformats.org/drawingml/2006/main" x="685800" y="1847850"/>
          <a:ext xmlns:a="http://schemas.openxmlformats.org/drawingml/2006/main" cx="10820400" cy="2762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29250"/>
                <a:gridCol w="2695575"/>
                <a:gridCol w="2695575"/>
              </a:tblGrid>
              <a:tr h="5524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Апрель–июль 2026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Заря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Пьермонт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Все сделки, шт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114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Агентские сделки, шт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95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Доля агентов в числе сделок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83,3%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15,4%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Модель: доля агентской выручки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51286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1D7920-A3A2-4DB4-B002-AFF13B544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Заря: состав лидогенерации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7E69E6-EC5D-4617-AAA1-ACA599B7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B870F9-98A7-4321-8F6B-4A10FBD8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Суммы из файлов. Результат услуг и тарифы подрядчиков раскрыты в расчётной записке. Нулевые статьи не включены.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7F0F9D-9767-42DF-BA06-646F1F5439E0}"/>
              </a:ext>
            </a:extLst>
          </p:cNvPr>
          <p:cNvGraphicFramePr/>
          <p:nvPr/>
        </p:nvGraphicFramePr>
        <p:xfrm>
          <a:off xmlns:a="http://schemas.openxmlformats.org/drawingml/2006/main" x="685800" y="1847850"/>
          <a:ext xmlns:a="http://schemas.openxmlformats.org/drawingml/2006/main" cx="10820400" cy="3771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95750"/>
                <a:gridCol w="1676400"/>
                <a:gridCol w="1676400"/>
                <a:gridCol w="1676400"/>
                <a:gridCol w="1695450"/>
              </a:tblGrid>
              <a:tr h="47148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₽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Октябрь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Ноябрь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Декабрь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Квартал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</a:tr>
              <a:tr h="47148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Яндекс.Директ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780 000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780 000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780 000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2 340 000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148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Сопровождение digital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118 125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118 125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118 125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354 375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148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Классифайды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108 100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108 100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108 100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324 300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148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Реклама ВКонтакте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250 000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250 000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250 000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750 000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148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Ведение таргета ВКонтакте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86 625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86 625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86 625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259 875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148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Квиз и чат-лендинг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120 000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148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Всего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1 382 850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1 382 850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1 382 850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4 148 550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7536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06F90E-B12A-427F-BAD5-960A91B5C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Пьермонт: состав лидогенерации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1D50A5-673E-4F75-8564-BDF64019D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1CE83D-9DCC-47AF-A32B-43419F308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Суммы из файлов. Результат услуг и тарифы подрядчиков раскрыты в расчётной записке. Нулевые статьи не включены.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3CC8D9-70BE-4B78-A532-1D7BD9B3F25C}"/>
              </a:ext>
            </a:extLst>
          </p:cNvPr>
          <p:cNvGraphicFramePr/>
          <p:nvPr/>
        </p:nvGraphicFramePr>
        <p:xfrm>
          <a:off xmlns:a="http://schemas.openxmlformats.org/drawingml/2006/main" x="685800" y="1847850"/>
          <a:ext xmlns:a="http://schemas.openxmlformats.org/drawingml/2006/main" cx="10820400" cy="2762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19500"/>
                <a:gridCol w="1800225"/>
                <a:gridCol w="1800225"/>
                <a:gridCol w="1800225"/>
                <a:gridCol w="1800225"/>
              </a:tblGrid>
              <a:tr h="55245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₽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Октябрь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Ноябрь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Декабрь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Квартал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Яндекс.Директ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1 100 000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1 100 000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1 100 000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3 300 000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Сопровождение digital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139 125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139 125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139 125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417 375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Классифайды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108 100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108 100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108 100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324 300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Всего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1 347 225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1 347 225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1 347 225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4 041 675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8001669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4F4B8B-980A-49B8-8978-4E843F3A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Заря: бренд отдельно от лидгена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100675-C1FD-4B2B-9C87-C8B898545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26601E-63BC-4D2D-99FF-C9AB57D5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У Зари PR для риелторов 200 тыс. ₽ в ноябре входит в бренд. У Пьермонта медийка ноября и декабря задана вручную.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1223A9-27C0-4948-BCDF-518FB4AD92A5}"/>
              </a:ext>
            </a:extLst>
          </p:cNvPr>
          <p:cNvGraphicFramePr/>
          <p:nvPr/>
        </p:nvGraphicFramePr>
        <p:xfrm>
          <a:off xmlns:a="http://schemas.openxmlformats.org/drawingml/2006/main" x="685800" y="1847850"/>
          <a:ext xmlns:a="http://schemas.openxmlformats.org/drawingml/2006/main" cx="10820400" cy="3771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95750"/>
                <a:gridCol w="1676400"/>
                <a:gridCol w="1676400"/>
                <a:gridCol w="1676400"/>
                <a:gridCol w="1695450"/>
              </a:tblGrid>
              <a:tr h="41910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₽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Октябрь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Ноябрь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Декабрь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Квартал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Медийная реклама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195 000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195 000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195 000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585 000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SMM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150 000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150 000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150 000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450 000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Репутация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14 000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14 000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14 000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42 000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Креатив и продакшн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74 000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74 000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74 000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222 000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POS и типография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150 000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150 000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150 000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450 000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 в СМИ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Работа с риелторами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200 000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200 000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Всего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683 000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783 000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583 000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2 049 000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38958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8CD616-82CE-4BC4-80EF-E29F39A5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Пьермонт: бренд отдельно от лидгена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B06E03-0824-4238-B90A-4F28A59E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AAFB2B-E48F-4BB6-AD7C-D1401D72C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У Зари PR для риелторов 200 тыс. ₽ в ноябре входит в бренд. У Пьермонта медийка ноября и декабря задана вручную.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5BF5D5-905D-41A4-8407-257AE4A689F3}"/>
              </a:ext>
            </a:extLst>
          </p:cNvPr>
          <p:cNvGraphicFramePr/>
          <p:nvPr/>
        </p:nvGraphicFramePr>
        <p:xfrm>
          <a:off xmlns:a="http://schemas.openxmlformats.org/drawingml/2006/main" x="685800" y="1847850"/>
          <a:ext xmlns:a="http://schemas.openxmlformats.org/drawingml/2006/main" cx="10820400" cy="3771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95750"/>
                <a:gridCol w="1676400"/>
                <a:gridCol w="1676400"/>
                <a:gridCol w="1676400"/>
                <a:gridCol w="1695450"/>
              </a:tblGrid>
              <a:tr h="47148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₽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Октябрь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Ноябрь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Декабрь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Квартал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</a:tr>
              <a:tr h="47148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Медийная реклама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275 000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300 000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300 000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875 000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148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SMM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150 000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150 000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150 000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450 000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148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Репутация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14 000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14 000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14 000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42 000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148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Креатив и продакшн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74 000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74 000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148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POS и типография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150 000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150 000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150 000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450 000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148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 в СМИ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148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Всего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763 000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614 000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614 000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1 991 000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35961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7977BA-C66C-4843-9E33-8212A4ED1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Расходы сверх привлечения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B06B08-964F-4396-AC9D-3167BC35A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042B87-9539-48BC-BF14-F1AE6A21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«Прочее»: 450 тыс. ₽ по Заре и 600 тыс. ₽ по Пьермонту. До детализации сумма условная.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831594-0AAA-4E24-8996-1DA9F3E8EE5F}"/>
              </a:ext>
            </a:extLst>
          </p:cNvPr>
          <p:cNvGraphicFramePr/>
          <p:nvPr/>
        </p:nvGraphicFramePr>
        <p:xfrm>
          <a:off xmlns:a="http://schemas.openxmlformats.org/drawingml/2006/main" x="685800" y="1847850"/>
          <a:ext xmlns:a="http://schemas.openxmlformats.org/drawingml/2006/main" cx="10820400" cy="2762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524500"/>
                <a:gridCol w="2647950"/>
                <a:gridCol w="2647950"/>
              </a:tblGrid>
              <a:tr h="5524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Квартал, ₽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Заря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Пьермонт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Содержание и инфраструктура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1 560 690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2 664 750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Оформление сделок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864 000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440 199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Субсидии вне коммерческого итога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416 667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800 000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ФОТ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Расчёт отсутствует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Расчёт отсутствует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444793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BC0C3E-4BF6-4D2D-8202-77966EB1A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Цифры, которые требуют пояснения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8B6DE5-2ABD-4195-925F-BD4517FF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8A5AB3-4784-4DA1-9183-ECB7C91F1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Расхождения не исправлены скрыто. Они вынесены на отдельное решение.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13A5EC-746D-43C2-8C0B-706D125B9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30003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Пьермонт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CAC178-F962-447B-BDA2-DA5E3DA5C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981200"/>
            <a:ext cx="748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39 лидов × 40 тыс. ₽ = 1,560 млн ₽ Директа в месяц. В бюджете 1,100 млн ₽. Разрыв 460 тыс. ₽.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51D153-CB9E-48E0-AC78-7F03C31BB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0003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Регистрация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2016D-9EA9-4E20-A5A6-3510663C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162300"/>
            <a:ext cx="748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Заря: 14 договоров в месяц при плане 5,01–6,47 квартиры. Пьермонт: добавка 8,5 договора без расшифровки.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A51A3F-E053-4991-B696-750D062A3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0003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Медийка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EECEC7-2A5D-49F4-B3BC-4711F682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343400"/>
            <a:ext cx="748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Пьермонт: 300 тыс. ₽ в ноябре и декабре вместо 275 тыс. ₽ по доле 25%. Отклонение 50 тыс. ₽ за квартал.</a:t>
            </a:r>
          </a:p>
        </p:txBody>
      </p:sp>
    </p:spTree>
    <p:extLst>
      <p:ext uri="{BB962C8B-B14F-4D97-AF65-F5344CB8AC3E}">
        <p14:creationId xmlns:p14="http://schemas.microsoft.com/office/powerpoint/2010/main" val="163476996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E19273-9153-4C4C-A305-9DB6A9E5E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Заря: логика модели лидов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5A864E-3430-4C0A-9E1B-29E0EA8CF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ED071F-0D9E-4EDD-AEB0-A28F391E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Исторический CPL включает весь маркетинг. Он не доказывает стоимость лида Директа.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F87BEE-E00D-48A7-9496-F63F1D8E9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30003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Исходная модель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8865E0-290B-4062-B7B0-2FAFD529C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981200"/>
            <a:ext cx="748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30% дохода / 8,5 млн ₽, округление до 2 сделок в месяц. Конверсия 6%, запас 15%.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7633E7-4630-495F-8619-34517060B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0003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Результат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19ADB4-42E9-4438-8C08-135837FEC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162300"/>
            <a:ext cx="748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39 лидов в месяц, 117 в квартал. CPL Директа 20 тыс. ₽. Бюджет Директа 2,340 млн ₽.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DDDB65-30F1-4E0F-B34C-DB2294848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0003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Ограничение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90910C-9986-4F76-9BCC-B4769B1CD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343400"/>
            <a:ext cx="748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6% выше исторических 4,18%. CPL 20 тыс. ₽ близок к 19,08 тыс. ₽ всего маркетинга на любой лид.</a:t>
            </a:r>
          </a:p>
        </p:txBody>
      </p:sp>
    </p:spTree>
    <p:extLst>
      <p:ext uri="{BB962C8B-B14F-4D97-AF65-F5344CB8AC3E}">
        <p14:creationId xmlns:p14="http://schemas.microsoft.com/office/powerpoint/2010/main" val="43528911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60B0B8-CEB6-4C9D-87F8-41845471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Пьермонт: три способа закрыть разрыв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363AA5-CA75-498E-B2F9-9F386457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09E551-42CD-4D6F-9643-C2BF80005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82,5 лида × 6% = 4,95 ожидаемой сделки до учёта лага. Модель требует 6 сделок и резерв лидов.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04849E-C163-4395-98DB-E116F48B2B26}"/>
              </a:ext>
            </a:extLst>
          </p:cNvPr>
          <p:cNvGraphicFramePr/>
          <p:nvPr/>
        </p:nvGraphicFramePr>
        <p:xfrm>
          <a:off xmlns:a="http://schemas.openxmlformats.org/drawingml/2006/main" x="685800" y="1847850"/>
          <a:ext xmlns:a="http://schemas.openxmlformats.org/drawingml/2006/main" cx="10820400" cy="2209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29125"/>
                <a:gridCol w="2524125"/>
                <a:gridCol w="3867150"/>
              </a:tblGrid>
              <a:tr h="5524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Вариант на квартал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Директ, млн ₽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Условие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Сохранить расход файла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3,300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CPL ≤ 28 205 ₽ для 117 лидов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Сохранить CPL 40 000 ₽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3,300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82,5 лида без округления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Профинансировать 117 лидов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4,680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Добавить 1,380 млн ₽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78641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C298B7-BBAE-409D-B9DF-6BF9D67D7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Факт воронки и плановая конверсия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B1B6F8-02FD-42FF-A554-57B9EF978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00D062-1BD3-45F6-AEAB-784B5AB2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Это агрегатные отношения за период. Когортная конверсия и срок сделки в таблицах не раскрыты.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5B3EA4-4E52-4E9D-9006-359AE8085707}"/>
              </a:ext>
            </a:extLst>
          </p:cNvPr>
          <p:cNvGraphicFramePr/>
          <p:nvPr/>
        </p:nvGraphicFramePr>
        <p:xfrm>
          <a:off xmlns:a="http://schemas.openxmlformats.org/drawingml/2006/main" x="685800" y="1847850"/>
          <a:ext xmlns:a="http://schemas.openxmlformats.org/drawingml/2006/main" cx="10820400" cy="3314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29250"/>
                <a:gridCol w="2695575"/>
                <a:gridCol w="2695575"/>
              </a:tblGrid>
              <a:tr h="5524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Апрель–июль 2026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Заря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Пьермонт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Лидов / целевых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455 / 115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389 / 79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Сделок своего ОП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Любой лид в сделку ОП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4,18%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2,83%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Плановая конверсия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Рост к историческому уровню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×1,44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×2,12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830420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C0B893-A655-403B-98B9-E58DD8B67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Стоимость продажи: два уровня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D0A483-9BA1-44C8-8B01-944FC47FD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118E6D-FC3B-4765-8301-819A2AAE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План содержит дробные квартирные эквиваленты. Показатели условны до выполнения плана и не доказывают окупаемость.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3062D3-0BCB-408F-91CD-D40E8ED285E5}"/>
              </a:ext>
            </a:extLst>
          </p:cNvPr>
          <p:cNvGraphicFramePr/>
          <p:nvPr/>
        </p:nvGraphicFramePr>
        <p:xfrm>
          <a:off xmlns:a="http://schemas.openxmlformats.org/drawingml/2006/main" x="685800" y="1847850"/>
          <a:ext xmlns:a="http://schemas.openxmlformats.org/drawingml/2006/main" cx="10820400" cy="2762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715000"/>
                <a:gridCol w="2552700"/>
                <a:gridCol w="2552700"/>
              </a:tblGrid>
              <a:tr h="5524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Квартал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Заря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Пьермонт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План квартир, эквивалент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17,10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19,90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Привлечение / квартира, ₽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462 119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522 380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Коммерческие / квартира без ФОТ, ₽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723 668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778 491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Лидген / 6 модельных сделок ОП, ₽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691 425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673 613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137144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F2F90F-4E15-49A6-BBA6-9C6EAF32A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Неблагоприятный сценарий конверсии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C30A67-516A-41EC-BEB7-AD5BF434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116BD9-C899-4CFE-8D03-096DE744D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Математический сценарий, не прогноз. У Пьермонта текущий бюджет ещё не финансирует сами 117 лидов.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DA8529-9B02-4747-894A-523087679AF2}"/>
              </a:ext>
            </a:extLst>
          </p:cNvPr>
          <p:cNvGraphicFramePr/>
          <p:nvPr/>
        </p:nvGraphicFramePr>
        <p:xfrm>
          <a:off xmlns:a="http://schemas.openxmlformats.org/drawingml/2006/main" x="685800" y="1847850"/>
          <a:ext xmlns:a="http://schemas.openxmlformats.org/drawingml/2006/main" cx="10820400" cy="2762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715000"/>
                <a:gridCol w="2552700"/>
                <a:gridCol w="2552700"/>
              </a:tblGrid>
              <a:tr h="5524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При 117 лидах на проект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Заря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Пьермонт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При CR модели 6%, сделки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7,02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7,02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При исторической CR, сделки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4,89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3,31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Лидов для 6 сделок + запас 15%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166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245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Директ при CPL модели, млн ₽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3,320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9,800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41243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5B1BA6-E458-4368-B29F-7B97F9548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Сокращение коммерческого бюджета на 20%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18072D-AC06-42F4-A8F8-14623D417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F2883E-A6A0-4BB1-AE3B-674F950D9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Показан стресс-тест. Это не согласованный план отключений. Комиссии за состоявшиеся сделки защищены условиями договоров.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B77A76-0D56-4EAE-8381-909DA75B9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30003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Сумма сокращения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026122-84BA-4A5B-9A79-370213384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981200"/>
            <a:ext cx="748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5,574 млн ₽ от 27,868 млн ₽ без ФОТ. Новый лимит 22,294 млн ₽.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900DB7-828D-436D-82F3-10857E1A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0003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Арифметический вариант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5A39B0-B959-4246-9EF8-6796587EF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162300"/>
            <a:ext cx="748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Все брендовые 4,040 млн ₽ плюс 1,534 млн ₽ лидгена. Лидген остаётся 6,656 млн ₽.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92280D-728C-4FBE-8109-3AC1E8029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0003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Последствие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7BFA8B-BA04-4692-A3DB-352A762B1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343400"/>
            <a:ext cx="748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Этот вариант требует проверки договоров и пересчёта воронки. Точную потерю продаж данные не определяют.</a:t>
            </a:r>
          </a:p>
        </p:txBody>
      </p:sp>
    </p:spTree>
    <p:extLst>
      <p:ext uri="{BB962C8B-B14F-4D97-AF65-F5344CB8AC3E}">
        <p14:creationId xmlns:p14="http://schemas.microsoft.com/office/powerpoint/2010/main" val="51183315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B7B842-C90D-46C6-AF20-E029AAAC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Рынок усиливает требования к качеству спроса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108928-9E04-4B29-998C-1B57BECCA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EBD83A-570A-4D24-A74C-40C034FCE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Цены предложения +0,98% за август. Региональная ипотека не равна продажам Уфы.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1FFB8D-1AE5-4BA5-AC75-2576DA3FAA74}"/>
              </a:ext>
            </a:extLst>
          </p:cNvPr>
          <p:cNvGraphicFramePr/>
          <p:nvPr/>
        </p:nvGraphicFramePr>
        <p:xfrm>
          <a:off xmlns:a="http://schemas.openxmlformats.org/drawingml/2006/main" x="685800" y="1847850"/>
          <a:ext xmlns:a="http://schemas.openxmlformats.org/drawingml/2006/main" cx="10820400" cy="2209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191250"/>
                <a:gridCol w="2314575"/>
                <a:gridCol w="2314575"/>
              </a:tblGrid>
              <a:tr h="5524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Показатель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Июль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Август 2026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Новостройки Уфы, ₽/м²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175 209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176 928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Ипотечные кредиты под ДДУ, Башкортостан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883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973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Под ДДУ к августу 2025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/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−26,6%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803970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C23D55-6510-43DA-A008-D6F857CA7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Заря: ценовой аргумент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840550-8936-4604-AC33-A858A9EC6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86D397-DA7A-47EC-B1C6-7678EFAF7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Групповые средние. Чистое повышение цены не выделено. Готовность и состав лотов отличаются.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199A1D-9323-4EDC-A372-1F350EB1C1A3}"/>
              </a:ext>
            </a:extLst>
          </p:cNvPr>
          <p:cNvGraphicFramePr/>
          <p:nvPr/>
        </p:nvGraphicFramePr>
        <p:xfrm>
          <a:off xmlns:a="http://schemas.openxmlformats.org/drawingml/2006/main" x="685800" y="1847850"/>
          <a:ext xmlns:a="http://schemas.openxmlformats.org/drawingml/2006/main" cx="10820400" cy="2209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95750"/>
                <a:gridCol w="2238375"/>
                <a:gridCol w="2238375"/>
                <a:gridCol w="2247900"/>
              </a:tblGrid>
              <a:tr h="5524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Август 2026, ₽/м²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Заря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206 778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182 798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170 485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Атлантис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231 553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229 101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213 093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Холмогоры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219 612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189 874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185 105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742838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FE499A-2559-4CA2-B49F-AFEF2933A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Пьермонт: высокая цена семейной покупки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90E7A4-1539-4221-AF84-EBDFB9020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9232E4-2B7B-45B3-B324-931A807F3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Это примеры близкой площади. Они различаются по классу, локации и готовности. Цена Пьермонта требует объяснения ценности.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0BE400-C161-4C50-85A2-88F7DA05FDEA}"/>
              </a:ext>
            </a:extLst>
          </p:cNvPr>
          <p:cNvGraphicFramePr/>
          <p:nvPr/>
        </p:nvGraphicFramePr>
        <p:xfrm>
          <a:off xmlns:a="http://schemas.openxmlformats.org/drawingml/2006/main" x="685800" y="1847850"/>
          <a:ext xmlns:a="http://schemas.openxmlformats.org/drawingml/2006/main" cx="10820400" cy="2209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76750"/>
                <a:gridCol w="2095500"/>
                <a:gridCol w="2095500"/>
                <a:gridCol w="2152650"/>
              </a:tblGrid>
              <a:tr h="5524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Пример 2к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Площадь, м²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Цена, млн ₽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₽/м²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Пьермонт, планировка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55,12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от 12,16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220 577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Родина Парк, №229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55,90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8,33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149 000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Динамика, №292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54,43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9,20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169 000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66949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E8D2C5-476B-4815-B3CC-58BE4EBA8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Платёжная доступность в квалификации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CA304A-89B1-4A5F-A07D-6E3421E30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182C10-1708-43FD-BB43-7C2050E5A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При лимите кредита 6 млн ₽ и взносе ≥20,1%. Право на программу индивидуально. Рекламный платёж не заменяет полный график.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865944-94C9-4EF4-9CE8-7B9BF55E0206}"/>
              </a:ext>
            </a:extLst>
          </p:cNvPr>
          <p:cNvGraphicFramePr/>
          <p:nvPr/>
        </p:nvGraphicFramePr>
        <p:xfrm>
          <a:off xmlns:a="http://schemas.openxmlformats.org/drawingml/2006/main" x="685800" y="1847850"/>
          <a:ext xmlns:a="http://schemas.openxmlformats.org/drawingml/2006/main" cx="10820400" cy="1657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95750"/>
                <a:gridCol w="3143250"/>
                <a:gridCol w="3581400"/>
              </a:tblGrid>
              <a:tr h="5524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Сценарий 2к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Цена от, млн ₽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Свой взнос, млн ₽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T w="9525">
                      <a:solidFill>
                        <a:srgbClr val="D6DDDA"/>
                      </a:solidFill>
                      <a:prstDash val="solid"/>
                    </a:lnT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172A2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Заря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9,467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3,467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Пьермонт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DDA"/>
                      </a:solidFill>
                      <a:prstDash val="solid"/>
                    </a:lnL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12,158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2A2C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6,158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DDA"/>
                      </a:solidFill>
                      <a:prstDash val="solid"/>
                    </a:lnR>
                    <a:lnB w="9525">
                      <a:solidFill>
                        <a:srgbClr val="D6DD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27688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E16803-15B0-4E5B-92BE-A7705CA44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Заря: защита расходов через квалификацию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BC5A6C-A3D5-4570-AB57-ECC279AB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67CC7A-B73D-4807-99DD-38AA3B555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Ожидаемый эффект действий требует проверки. Заранее утверждается стоимость сделки и срок оценки.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6896D5-8909-42DF-B819-34882618B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30003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Директ и классифайды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2E03D1-3318-479C-8607-7651E60A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981200"/>
            <a:ext cx="748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Конкретный лот, полный взнос и срок ожидания. В CRM фиксировать бюджет покупки и доступный маршрут оплаты.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48679D-B24F-4BF1-85B3-7C1B8A61A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0003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ВКонтакте и квиз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6BCEC2-88B1-499D-90DB-4B4A06CD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162300"/>
            <a:ext cx="748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Отдельная метка источника. Проверка стоимости целевого обращения и доли покупателей с реальным взносом.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D27066-19D4-4BCA-BE0E-3D459941D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0003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Контроль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D124AA-271E-4265-915B-0EFC618F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343400"/>
            <a:ext cx="748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Не масштабировать поток при росте нецелевых обращений. Причины потерь проверять совместно с продажами.</a:t>
            </a:r>
          </a:p>
        </p:txBody>
      </p:sp>
    </p:spTree>
    <p:extLst>
      <p:ext uri="{BB962C8B-B14F-4D97-AF65-F5344CB8AC3E}">
        <p14:creationId xmlns:p14="http://schemas.microsoft.com/office/powerpoint/2010/main" val="16593077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EF941F-4837-4F2C-BB99-5650A0CE1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Пьермонт: агентский канал и персональный показ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EB3464-7AD6-4D2F-A158-DBEBE2D8B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4D6E79-8A5F-41DF-BB97-1BB033E2E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Исторически собственный ОП дал 11 из 13 сделок. Восстановление агентского канала ещё нужно доказать.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906E80-0EA7-40F0-9067-0D4F61D2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30003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Агенты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8EA410-0340-4C74-8B9A-A7D07CAB1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981200"/>
            <a:ext cx="748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Резерв 6,352 млн ₽ по файлу. Поимённый план партнёров и реестр клиентов вместо обещания 70% без воронки.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0501B0-454D-4A67-8C5A-CF33971E1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0003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Своя лидогенерация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E2AC1A-2271-4EFF-941F-CA7A17907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162300"/>
            <a:ext cx="748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Персональный подбор по подтверждённому бюджету. На встрече объяснять виды, планировки и полную стоимость.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3C4E13-4971-44CB-B3C7-3002A4AD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0003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Условие расхода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C696FA-8C52-4971-BE3A-D8E6166D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343400"/>
            <a:ext cx="748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Решить разрыв Директа 1,380 млн ₽. Затем контролировать запись, проведённый показ, бронь и договор.</a:t>
            </a:r>
          </a:p>
        </p:txBody>
      </p:sp>
    </p:spTree>
    <p:extLst>
      <p:ext uri="{BB962C8B-B14F-4D97-AF65-F5344CB8AC3E}">
        <p14:creationId xmlns:p14="http://schemas.microsoft.com/office/powerpoint/2010/main" val="102047956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F96947-8122-4B17-948E-D14BD1986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Октябрь и декабрь: контроль времени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29819F-9423-4CB6-9A37-D61C80C21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F91658-7E07-477F-8476-91273976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Расходы 2027 года в запрос не включены. Лаг результата может выходить за границу квартала.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06ADE0-7254-4E8E-A4B5-5A14A1F27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30003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Октябрь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EF0397-00C0-4BD3-B262-6BE2B0CB5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981200"/>
            <a:ext cx="748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Файл содержит полный месяц. Для остаточного лимита нужны факт на дату защиты и обязательства до конца месяца.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901FC1-F354-4A25-A1FC-D1C27A9F5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0003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Декабрь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C23FA8-EC42-431A-BCA7-39A5C09D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162300"/>
            <a:ext cx="748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Разделить работу с текущей базой и новые обращения. Без срока сделки нельзя приписать новые лиды продажам до 31 декабря.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FD3F05-72C6-440F-AB2E-FC6F705A2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0003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Остановка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CCF9DE-C163-4C21-B5FB-F4541405D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343400"/>
            <a:ext cx="748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Решение по каналу после достаточной выборки и полного лага. Порог CAC и срок проверки утверждаются до расходования.</a:t>
            </a:r>
          </a:p>
        </p:txBody>
      </p:sp>
    </p:spTree>
    <p:extLst>
      <p:ext uri="{BB962C8B-B14F-4D97-AF65-F5344CB8AC3E}">
        <p14:creationId xmlns:p14="http://schemas.microsoft.com/office/powerpoint/2010/main" val="26739186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377349-F7B9-4947-9CBE-06F3D5D1B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Решение для генерального директора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CD30C1-3F27-42DC-9734-D8C0CD611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D7C84D-04D9-466E-80C2-62D6FE688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Утверждение лимита не равно доказательству эффективности. Неподтверждённые статьи имеют условный статус.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55AF78-0FBE-49DE-BD65-0B74D85E3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30003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Лимиты файлов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41732D-DE52-43DF-8B74-ACF9B7631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981200"/>
            <a:ext cx="748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18,298 млн ₽ на привлечение. Бренд 4,040 млн ₽ отдельно. Полный коммерческий блок 27,868 млн ₽ без ФОТ.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1E60C3-787D-4E5B-912D-9F707838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0003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Выбор расчёта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B9DE4B-7889-4BF1-8D2D-91396B5B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162300"/>
            <a:ext cx="748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Сохранить суммы файлов либо утвердить перенос 2,701 млн ₽ из лидгена к агентам по правилу 70/30 расходов.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794A00-7E83-4282-89F2-91EC96071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0003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Условия расхода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0A0F1F-D07E-4DB5-8C83-26F176ECE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343400"/>
            <a:ext cx="748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Сверить разрыв Пьермонта, фактический октябрь, ФОТ, «Прочее», регистрацию и договоры подрядчиков.</a:t>
            </a:r>
          </a:p>
        </p:txBody>
      </p:sp>
    </p:spTree>
    <p:extLst>
      <p:ext uri="{BB962C8B-B14F-4D97-AF65-F5344CB8AC3E}">
        <p14:creationId xmlns:p14="http://schemas.microsoft.com/office/powerpoint/2010/main" val="61277905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D3D148-32EC-437A-826C-4734C3476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Ответы директору 01–02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F8C19E-85B7-44F4-A942-6AAB96CBB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11ECE5-0744-40DD-93CB-6E7B20B7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Подробный ответ и основания находятся в расчётной записке.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D96727-0DD6-4CCF-9A91-83BE70522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1. Сколько просим и что получим?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5286EE-7760-4C27-A37E-A3EB8F8F2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10820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18,298 млн ₽ на привлечение. План 37,002 квартирного эквивалента на 393,414 млн ₽ договоров. Результат условен и зависит от воронки.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737F0F-2064-4A80-9C89-02C61CD6E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2. Что значит «заработаем»?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4737BF-66C6-43EE-A1E5-8EE6748FA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393,414 млн ₽ договоров и 268,683 млн ₽ планового эскроу показаны отдельно. Доступные компании средства финансовая служба подтверждает отдельно.</a:t>
            </a:r>
          </a:p>
        </p:txBody>
      </p:sp>
    </p:spTree>
    <p:extLst>
      <p:ext uri="{BB962C8B-B14F-4D97-AF65-F5344CB8AC3E}">
        <p14:creationId xmlns:p14="http://schemas.microsoft.com/office/powerpoint/2010/main" val="491499628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4B32FD-C9FE-45BF-86D3-FC0996482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Ответы директору 03–04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F943CC-94D1-40B5-BC88-24750E2E1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31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B6F6ED-A3DC-49CD-8738-EDFE27B70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Подробный ответ и основания находятся в расчётной записке.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3A0D83-571D-4ED4-AA93-568AA032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3. Бюджет рассчитан или собран из пожеланий?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10AF13-A9A3-42FA-8E0E-50784FD40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10820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У Зари Директ совпадает с моделью. У Пьермонта 3,300 млн ₽ вместо 4,680 млн ₽ при 117 лидах и CPL 40 тыс. ₽. Остальные услуги требуют смет.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21A420-78AA-4BB9-B8BC-79A1B1927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4. Почему 70 на 30?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6AD6C7-89F5-4843-AD9D-20962E6D8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В файлах это доли выручки. Новое правило расходов даёт 12,809 млн ₽ агентам и 5,490 млн ₽ лидгену в той же базе 18,298 млн ₽.</a:t>
            </a:r>
          </a:p>
        </p:txBody>
      </p:sp>
    </p:spTree>
    <p:extLst>
      <p:ext uri="{BB962C8B-B14F-4D97-AF65-F5344CB8AC3E}">
        <p14:creationId xmlns:p14="http://schemas.microsoft.com/office/powerpoint/2010/main" val="105506458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8A53BC-BFB2-4B35-B5C6-D11B10880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Ответы директору 05–06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E7DC6C-EDCF-4DC0-9A9A-8A5AD4179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32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2FF0AC-E7D5-4E24-9A57-FBAF5925D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Подробный ответ и основания находятся в расчётной записке.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C9B0C3-574F-4382-B8DD-ABFC8BC81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5. Часть октября уже прошла. Сколько осталось?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A2F6C0-2B2E-407F-B98A-52BBAA313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10820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В файлах только полный месячный план. Остаток к оплате определяется после факта октября и реестра обязательств. Сейчас точной остаточной суммы нет.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32549E-6BEE-4A89-853B-7377CBBB1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6. Сколько стоит продать квартиру полностью?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3EABD0-F602-470C-A6A9-A38EB7461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Привлечение: 462 тыс. ₽ по Заре, 522 тыс. ₽ по Пьермонту. Коммерческие без ФОТ: 724 тыс. ₽ и 778 тыс. ₽ на плановый эквивалент.</a:t>
            </a:r>
          </a:p>
        </p:txBody>
      </p:sp>
    </p:spTree>
    <p:extLst>
      <p:ext uri="{BB962C8B-B14F-4D97-AF65-F5344CB8AC3E}">
        <p14:creationId xmlns:p14="http://schemas.microsoft.com/office/powerpoint/2010/main" val="192007926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2589D3-1485-4DF4-80F8-95FD6DDC7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Ответы директору 07–08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183C1A-7D92-402C-A652-DBF3D354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33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7845A3-C94A-478E-8FFA-6083F8910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Подробный ответ и основания находятся в расчётной записке.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B066BE-1F88-4DA3-A5ED-DAE24BBB0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7. Почему верить конверсии 6%?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ADBB6D-BA47-4935-ADB1-9EC711BCB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10820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История апреля–июля: 4,18% у Зари и 2,83% у Пьермонта. 6% является целевым допущением. До масштаба требуется подтверждение по когортам.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76261D-936A-4FFB-845B-D1E96459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8. Декабрьские лиды успеют купить?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E4E859-A225-4153-8C54-EFD90D6DE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Без фактического срока сделки этого обещать нельзя. Для результата до конца года приоритет текущей базе, новым обращениям нужен отдельный прогноз лага.</a:t>
            </a:r>
          </a:p>
        </p:txBody>
      </p:sp>
    </p:spTree>
    <p:extLst>
      <p:ext uri="{BB962C8B-B14F-4D97-AF65-F5344CB8AC3E}">
        <p14:creationId xmlns:p14="http://schemas.microsoft.com/office/powerpoint/2010/main" val="21157926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E263DA-43F0-4AFE-9895-F8305735B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Ответы директору 09–10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3DA7A1-1722-4777-8382-A3D5E67C2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34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79AD93-65F6-42ED-9A0C-E7DA76C25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Подробный ответ и основания находятся в расчётной записке.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60CC09-7C62-496D-9A23-3A9AC4761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9. Почему Заре имидж, Пьермонту лидген?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9D5DE3-5874-4545-9A1A-749264540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10820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Оба проекта имеют лидген и бренд. Заре 4,149 млн ₽ лидгена и 2,049 млн ₽ бренда. Пьермонту 4,042 млн ₽ и 1,991 млн ₽ соответственно.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31687C-A869-4A72-A03B-509F782F1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10. Если люди придут и не купят, зачем тратить?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C6255F-1373-4C00-89B0-6A830B58D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Квалифицируем взнос и бюджет до показа. По каналам проверяем долю целевых, договоры и CAC с учётом лага. Неподтверждённый канал не масштабируем.</a:t>
            </a:r>
          </a:p>
        </p:txBody>
      </p:sp>
    </p:spTree>
    <p:extLst>
      <p:ext uri="{BB962C8B-B14F-4D97-AF65-F5344CB8AC3E}">
        <p14:creationId xmlns:p14="http://schemas.microsoft.com/office/powerpoint/2010/main" val="13947466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605CEE-5CEB-40FC-A393-E93F489D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Ответы директору 11–12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4F4159-49E6-4285-8C45-095F6779A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35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0701C2-7010-46B3-AA17-56187B34D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Подробный ответ и основания находятся в расчётной записке.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E46890-E6AE-48C6-88F0-9CF93A1CC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11. Почему выбрать нас при высокой цене?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0A67EA-694B-4590-B69D-54B2319F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10820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В августовских группах Заря дешевле двух выбранных конкурентов. У Пьермонта высокая цена семейного лота требует доказательства продукта и локации.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001B5F-FB55-4DC2-9F0B-AA2C04DE9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12. У конкурента платёж ниже. Что делать?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17354E-D716-4ADA-8F5E-8E7A7B0E4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Сравниваем полный график, взнос и финальный остаток. В сценарии кредита до 6 млн ₽ взнос на 2к Зари от 3,467 млн ₽, Пьермонта от 6,158 млн ₽.</a:t>
            </a:r>
          </a:p>
        </p:txBody>
      </p:sp>
    </p:spTree>
    <p:extLst>
      <p:ext uri="{BB962C8B-B14F-4D97-AF65-F5344CB8AC3E}">
        <p14:creationId xmlns:p14="http://schemas.microsoft.com/office/powerpoint/2010/main" val="62483974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F459DF-FBA1-4208-89C6-724A2D983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Ответы директору 13–14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D40195-7F09-40DA-A3D7-9F8ED09B9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BDEEE6-079B-42B1-B333-388B67C63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Подробный ответ и основания находятся в расчётной записке.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0AB8B8-F360-4457-BC9C-1630C9C1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13. Аналитика не собрана из цен «от»?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52565C-E0F2-4CDD-82F4-1B1BA02F7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10820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Стартовые цены, групповые средние и отдельные лоты разделены. В исследовании девять примеров, реестр источников и дата сбора 14 октября.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357598-F3A8-48A9-900A-756D5A4CB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14. Может, дешёвые квартиры закончились?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DF1E3A-EF4B-4086-B210-FB1303F69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Да, состав предложения влияет на средние. Чистое изменение цены не выделено. Заявлять точную переоценку по этим группам нельзя.</a:t>
            </a:r>
          </a:p>
        </p:txBody>
      </p:sp>
    </p:spTree>
    <p:extLst>
      <p:ext uri="{BB962C8B-B14F-4D97-AF65-F5344CB8AC3E}">
        <p14:creationId xmlns:p14="http://schemas.microsoft.com/office/powerpoint/2010/main" val="87844176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1056E2-F8C7-41A4-8EC2-789CF0518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Ответы директору 15–16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B5437F-1A67-4CFD-B8FF-455C3E6FD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37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05836E-35B9-4563-9461-BA384ECD7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Подробный ответ и основания находятся в расчётной записке.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91224E-6D23-4843-98E6-9A5608B3B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15. Какова наша доля рынка?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B643BC-4047-4736-A314-E08730C01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10820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Долю продаж HART не заявляем: нет сопоставимого полного знаменателя. Количество объявлений и региональная ипотека эту долю не определяют.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290171-1828-447E-AFFD-0FEDB073F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16. Вы объединили медийку и лидген, чтобы скрыть расходы?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6E73B0-76C3-4B0C-89A6-D4C82E65B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Нет, бренд 4,040 млн ₽ раскрыт отдельно. Лидген 8,190 млн ₽ имеет свой состав. Каждая услуга защищается результатом и проверкой тарифа.</a:t>
            </a:r>
          </a:p>
        </p:txBody>
      </p:sp>
    </p:spTree>
    <p:extLst>
      <p:ext uri="{BB962C8B-B14F-4D97-AF65-F5344CB8AC3E}">
        <p14:creationId xmlns:p14="http://schemas.microsoft.com/office/powerpoint/2010/main" val="46212338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571482-965A-4F09-876C-06F941C87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Ответы директору 17–18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B8DBC0-270B-4FF1-9271-447305340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38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5CF4C0-102F-4E2D-90F4-96A74F440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Подробный ответ и основания находятся в расчётной записке.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7CB7F5-3AD4-4C70-9E29-150ECE291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17. Как доказать дополнительные продажи от рекламы?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EC04CD-E455-40EE-9341-C02E0D73F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10820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CRM показывает связь, но не доказывает прирост. Для оценки дополнительного эффекта нужен контролируемый тест и единые правила учёта.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FAB9FB-5F61-4A5E-B395-E7C18971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18. Почему платить рекламе и агенту за одного клиента?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DA1785-C042-4160-9926-A448A2E2F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В CRM фиксируем источник и участие агента. Совместный расход включается в стоимость сделки. Комиссия выплачивается по договорным правилам.</a:t>
            </a:r>
          </a:p>
        </p:txBody>
      </p:sp>
    </p:spTree>
    <p:extLst>
      <p:ext uri="{BB962C8B-B14F-4D97-AF65-F5344CB8AC3E}">
        <p14:creationId xmlns:p14="http://schemas.microsoft.com/office/powerpoint/2010/main" val="2108984005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D4E508-D9CA-4D5C-846E-AFEA72CBB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Ответы директору 19–20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4182BD-3F11-468D-A9C0-C45F17850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39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8DF8B3-B415-4ECB-9CA3-1AD33225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Подробный ответ и основания находятся в расчётной записке.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36D373-24A0-47D2-BB6A-6EAFF1F9A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19. Чем полезны экскурсии без продаж?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D65C3B-82ED-438A-8F7B-B6929972C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10820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Проведённый показ оцениваем вместе с бронью и договором. Само количество экскурсий не является результатом защиты бюджета.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C8DAE1-12DC-4E45-A8C6-4B6ED75C9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20. Кто отвечает за невыполнение?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BBD917-5A62-4677-9B43-7602A9E4C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Маркетинг и продажи разбирают место потери одной воронки. Квалификация, скорость обработки и следующий шаг видны в общем отчёте.</a:t>
            </a:r>
          </a:p>
        </p:txBody>
      </p:sp>
    </p:spTree>
    <p:extLst>
      <p:ext uri="{BB962C8B-B14F-4D97-AF65-F5344CB8AC3E}">
        <p14:creationId xmlns:p14="http://schemas.microsoft.com/office/powerpoint/2010/main" val="1298598998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1CD29B-338C-4499-81FE-2687B6409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Ответы директору 21–22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005A4D-2827-476C-97C1-803D62AE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B4FA89-132C-420B-B2BA-6A06223D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Подробный ответ и основания находятся в расчётной записке.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B27FBB-1CE8-4B82-95EE-15A41D3D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21. Сокращу бюджет на 20%. Что потеряем?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3A315D-6A15-4885-A330-F22F60369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10820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От коммерческих 27,868 млн ₽ сокращение 5,574 млн ₽. Точную потерю квартир данные не определяют. Сначала проверяем обязательства и пересчитываем воронку.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BB3CFE-2EC3-4F4C-AEFD-D242FCC0B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22. Что отключаем первым без результата?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461808-BCF3-4A53-A9F5-D3DAB75D8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Управляемый канал с неподтверждённой задачей после достаточной выборки и лага. Сначала проверяем качество лидов, затем стоимость ожидаемого договора.</a:t>
            </a:r>
          </a:p>
        </p:txBody>
      </p:sp>
    </p:spTree>
    <p:extLst>
      <p:ext uri="{BB962C8B-B14F-4D97-AF65-F5344CB8AC3E}">
        <p14:creationId xmlns:p14="http://schemas.microsoft.com/office/powerpoint/2010/main" val="1767035058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5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553758-EBA5-4CBD-BE2F-8183BA0F4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Ответы директору 23–24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C78A53-3EB8-4510-8008-C86947BDC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334125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41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FC091C-E555-489C-9EDD-5DE7A759F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5D6969"/>
                </a:solidFill>
                <a:latin typeface="DejaVu Sans"/>
                <a:ea typeface="DejaVu Sans"/>
                <a:cs typeface="DejaVu Sans"/>
              </a:rPr>
              <a:t>Подробный ответ и основания находятся в расчётной записке.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733541-2E5B-4166-988B-48056ECF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23. Актуализация раз в квартал: провал не заметите?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E9A4F0-4FAB-4EEE-A94A-46FE99BA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10820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Еженедельный контроль предлагается внутри месячных лимитов. Квартальный пересмотр не запрещает раннее прекращение неэффективного расхода.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CF3159-6122-4FCC-A43D-622B5AF09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3746A"/>
                </a:solidFill>
                <a:latin typeface="DejaVu Sans"/>
                <a:ea typeface="DejaVu Sans"/>
                <a:cs typeface="DejaVu Sans"/>
              </a:rPr>
              <a:t>24. Что утвердить сегодня?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38FA85-9651-4A9F-B8B2-B5553714F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72A2C"/>
                </a:solidFill>
                <a:latin typeface="DejaVu Sans"/>
                <a:ea typeface="DejaVu Sans"/>
                <a:cs typeface="DejaVu Sans"/>
              </a:rPr>
              <a:t>Месячные лимиты, выбранный смысл 70/30, вариант Директа Пьермонта и условия допуска расходов. Отдельно закрыть ФОТ, октябрьский факт и неопределённые статьи.</a:t>
            </a:r>
          </a:p>
        </p:txBody>
      </p:sp>
    </p:spTree>
    <p:extLst>
      <p:ext uri="{BB962C8B-B14F-4D97-AF65-F5344CB8AC3E}">
        <p14:creationId xmlns:p14="http://schemas.microsoft.com/office/powerpoint/2010/main" val="5803886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2026-10-14T10:19:30.6630000Z</dcterms:created>
  <dcterms:modified xsi:type="dcterms:W3CDTF">2026-10-14T10:19:30.6630000Z</dcterms:modified>
</coreProperties>
</file>