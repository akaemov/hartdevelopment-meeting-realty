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fabb6a24dd4b98" /><Relationship Type="http://schemas.openxmlformats.org/officeDocument/2006/relationships/extended-properties" Target="/docProps/app.xml" Id="Ra2f2325bf8fa457f" /><Relationship Type="http://schemas.openxmlformats.org/officeDocument/2006/relationships/officeDocument" Target="/ppt/presentation.xml" Id="R00091b03c31542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121507b4d44c18"/>
  </p:sldMasterIdLst>
  <p:notesMasterIdLst>
    <p:notesMasterId xmlns:r="http://schemas.openxmlformats.org/officeDocument/2006/relationships" r:id="R959f8db8b4414267"/>
  </p:notesMasterIdLst>
  <p:sldIdLst>
    <p:sldId xmlns:r="http://schemas.openxmlformats.org/officeDocument/2006/relationships" id="256" r:id="R95eecd2157b44885"/>
    <p:sldId xmlns:r="http://schemas.openxmlformats.org/officeDocument/2006/relationships" id="257" r:id="R6c4a0c9a944441ca"/>
    <p:sldId xmlns:r="http://schemas.openxmlformats.org/officeDocument/2006/relationships" id="258" r:id="R0dad1a1644764aa8"/>
    <p:sldId xmlns:r="http://schemas.openxmlformats.org/officeDocument/2006/relationships" id="259" r:id="R75933c29d54b4963"/>
    <p:sldId xmlns:r="http://schemas.openxmlformats.org/officeDocument/2006/relationships" id="260" r:id="R112492bb8f4d4ff0"/>
    <p:sldId xmlns:r="http://schemas.openxmlformats.org/officeDocument/2006/relationships" id="261" r:id="Rf2c44adee4a9463c"/>
    <p:sldId xmlns:r="http://schemas.openxmlformats.org/officeDocument/2006/relationships" id="262" r:id="Red0f19cf3e264450"/>
    <p:sldId xmlns:r="http://schemas.openxmlformats.org/officeDocument/2006/relationships" id="263" r:id="Rff81f2af9fa545b7"/>
    <p:sldId xmlns:r="http://schemas.openxmlformats.org/officeDocument/2006/relationships" id="264" r:id="R7e0a96a108ab4a2b"/>
    <p:sldId xmlns:r="http://schemas.openxmlformats.org/officeDocument/2006/relationships" id="265" r:id="R267c4cf4101340b4"/>
    <p:sldId xmlns:r="http://schemas.openxmlformats.org/officeDocument/2006/relationships" id="266" r:id="R942b6b9e6f8d41bf"/>
    <p:sldId xmlns:r="http://schemas.openxmlformats.org/officeDocument/2006/relationships" id="267" r:id="R14447b2278944ca3"/>
    <p:sldId xmlns:r="http://schemas.openxmlformats.org/officeDocument/2006/relationships" id="268" r:id="R8bb3186a8d7d4b66"/>
    <p:sldId xmlns:r="http://schemas.openxmlformats.org/officeDocument/2006/relationships" id="269" r:id="R2f8bafec623b4541"/>
    <p:sldId xmlns:r="http://schemas.openxmlformats.org/officeDocument/2006/relationships" id="270" r:id="R9eec2f3582bc4fd3"/>
    <p:sldId xmlns:r="http://schemas.openxmlformats.org/officeDocument/2006/relationships" id="271" r:id="R3e212335ba024bf9"/>
    <p:sldId xmlns:r="http://schemas.openxmlformats.org/officeDocument/2006/relationships" id="272" r:id="Rb9a5ce4d17eb4e53"/>
    <p:sldId xmlns:r="http://schemas.openxmlformats.org/officeDocument/2006/relationships" id="273" r:id="R904cf4ac136c4591"/>
    <p:sldId xmlns:r="http://schemas.openxmlformats.org/officeDocument/2006/relationships" id="274" r:id="R47ce8a6c25174380"/>
    <p:sldId xmlns:r="http://schemas.openxmlformats.org/officeDocument/2006/relationships" id="275" r:id="R5a0fd54687b84a93"/>
    <p:sldId xmlns:r="http://schemas.openxmlformats.org/officeDocument/2006/relationships" id="276" r:id="R7c8ea87644764fcf"/>
    <p:sldId xmlns:r="http://schemas.openxmlformats.org/officeDocument/2006/relationships" id="277" r:id="Rb19127a845824af4"/>
    <p:sldId xmlns:r="http://schemas.openxmlformats.org/officeDocument/2006/relationships" id="278" r:id="R67ad89c352634318"/>
    <p:sldId xmlns:r="http://schemas.openxmlformats.org/officeDocument/2006/relationships" id="279" r:id="Rc2e1ef41be894d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2f66b4f7424a54" /><Relationship Type="http://schemas.openxmlformats.org/officeDocument/2006/relationships/slideMaster" Target="/ppt/slideMasters/slideMaster1.xml" Id="R36121507b4d44c18" /><Relationship Type="http://schemas.openxmlformats.org/officeDocument/2006/relationships/notesMaster" Target="/ppt/notesMasters/notesMaster1.xml" Id="R959f8db8b4414267" /><Relationship Type="http://schemas.openxmlformats.org/officeDocument/2006/relationships/presProps" Target="/ppt/presProps.xml" Id="R9102c165514048f3" /><Relationship Type="http://schemas.openxmlformats.org/officeDocument/2006/relationships/tableStyles" Target="/ppt/tableStyles.xml" Id="R9675f6ab15f04e89" /><Relationship Type="http://schemas.openxmlformats.org/officeDocument/2006/relationships/slide" Target="/ppt/slides/slide1.xml" Id="R95eecd2157b44885" /><Relationship Type="http://schemas.openxmlformats.org/officeDocument/2006/relationships/slide" Target="/ppt/slides/slide2.xml" Id="R6c4a0c9a944441ca" /><Relationship Type="http://schemas.openxmlformats.org/officeDocument/2006/relationships/slide" Target="/ppt/slides/slide3.xml" Id="R0dad1a1644764aa8" /><Relationship Type="http://schemas.openxmlformats.org/officeDocument/2006/relationships/slide" Target="/ppt/slides/slide4.xml" Id="R75933c29d54b4963" /><Relationship Type="http://schemas.openxmlformats.org/officeDocument/2006/relationships/slide" Target="/ppt/slides/slide5.xml" Id="R112492bb8f4d4ff0" /><Relationship Type="http://schemas.openxmlformats.org/officeDocument/2006/relationships/slide" Target="/ppt/slides/slide6.xml" Id="Rf2c44adee4a9463c" /><Relationship Type="http://schemas.openxmlformats.org/officeDocument/2006/relationships/slide" Target="/ppt/slides/slide7.xml" Id="Red0f19cf3e264450" /><Relationship Type="http://schemas.openxmlformats.org/officeDocument/2006/relationships/slide" Target="/ppt/slides/slide8.xml" Id="Rff81f2af9fa545b7" /><Relationship Type="http://schemas.openxmlformats.org/officeDocument/2006/relationships/slide" Target="/ppt/slides/slide9.xml" Id="R7e0a96a108ab4a2b" /><Relationship Type="http://schemas.openxmlformats.org/officeDocument/2006/relationships/slide" Target="/ppt/slides/slide10.xml" Id="R267c4cf4101340b4" /><Relationship Type="http://schemas.openxmlformats.org/officeDocument/2006/relationships/slide" Target="/ppt/slides/slide11.xml" Id="R942b6b9e6f8d41bf" /><Relationship Type="http://schemas.openxmlformats.org/officeDocument/2006/relationships/slide" Target="/ppt/slides/slide12.xml" Id="R14447b2278944ca3" /><Relationship Type="http://schemas.openxmlformats.org/officeDocument/2006/relationships/slide" Target="/ppt/slides/slide13.xml" Id="R8bb3186a8d7d4b66" /><Relationship Type="http://schemas.openxmlformats.org/officeDocument/2006/relationships/slide" Target="/ppt/slides/slide14.xml" Id="R2f8bafec623b4541" /><Relationship Type="http://schemas.openxmlformats.org/officeDocument/2006/relationships/slide" Target="/ppt/slides/slide15.xml" Id="R9eec2f3582bc4fd3" /><Relationship Type="http://schemas.openxmlformats.org/officeDocument/2006/relationships/slide" Target="/ppt/slides/slide16.xml" Id="R3e212335ba024bf9" /><Relationship Type="http://schemas.openxmlformats.org/officeDocument/2006/relationships/slide" Target="/ppt/slides/slide17.xml" Id="Rb9a5ce4d17eb4e53" /><Relationship Type="http://schemas.openxmlformats.org/officeDocument/2006/relationships/slide" Target="/ppt/slides/slide18.xml" Id="R904cf4ac136c4591" /><Relationship Type="http://schemas.openxmlformats.org/officeDocument/2006/relationships/slide" Target="/ppt/slides/slide19.xml" Id="R47ce8a6c25174380" /><Relationship Type="http://schemas.openxmlformats.org/officeDocument/2006/relationships/slide" Target="/ppt/slides/slide20.xml" Id="R5a0fd54687b84a93" /><Relationship Type="http://schemas.openxmlformats.org/officeDocument/2006/relationships/slide" Target="/ppt/slides/slide21.xml" Id="R7c8ea87644764fcf" /><Relationship Type="http://schemas.openxmlformats.org/officeDocument/2006/relationships/slide" Target="/ppt/slides/slide22.xml" Id="Rb19127a845824af4" /><Relationship Type="http://schemas.openxmlformats.org/officeDocument/2006/relationships/slide" Target="/ppt/slides/slide23.xml" Id="R67ad89c352634318" /><Relationship Type="http://schemas.openxmlformats.org/officeDocument/2006/relationships/slide" Target="/ppt/slides/slide24.xml" Id="Rc2e1ef41be894d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d5a62936dc4d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5e0a4fecaf4c54" /><Relationship Type="http://schemas.openxmlformats.org/officeDocument/2006/relationships/notesMaster" Target="/ppt/notesMasters/notesMaster1.xml" Id="R56431a3362af43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f599a342324a41" /><Relationship Type="http://schemas.openxmlformats.org/officeDocument/2006/relationships/notesMaster" Target="/ppt/notesMasters/notesMaster1.xml" Id="Rde36887f331440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f3502cd5934505" /><Relationship Type="http://schemas.openxmlformats.org/officeDocument/2006/relationships/notesMaster" Target="/ppt/notesMasters/notesMaster1.xml" Id="Rc5658de0beaf41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2d9fb5443d4504" /><Relationship Type="http://schemas.openxmlformats.org/officeDocument/2006/relationships/notesMaster" Target="/ppt/notesMasters/notesMaster1.xml" Id="R4033cb12a71048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7c1602867f4a77" /><Relationship Type="http://schemas.openxmlformats.org/officeDocument/2006/relationships/notesMaster" Target="/ppt/notesMasters/notesMaster1.xml" Id="R994a5dfa908343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5ddd84b0604353" /><Relationship Type="http://schemas.openxmlformats.org/officeDocument/2006/relationships/notesMaster" Target="/ppt/notesMasters/notesMaster1.xml" Id="R8a3ddc198d9744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d8465c179c444f" /><Relationship Type="http://schemas.openxmlformats.org/officeDocument/2006/relationships/notesMaster" Target="/ppt/notesMasters/notesMaster1.xml" Id="R5ac813c0c1cd41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42ee8f31ba486d" /><Relationship Type="http://schemas.openxmlformats.org/officeDocument/2006/relationships/notesMaster" Target="/ppt/notesMasters/notesMaster1.xml" Id="Rb62391b89e8149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dc5ae9b56e4913" /><Relationship Type="http://schemas.openxmlformats.org/officeDocument/2006/relationships/notesMaster" Target="/ppt/notesMasters/notesMaster1.xml" Id="R683b463b851247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8db14fa8ed4eb6" /><Relationship Type="http://schemas.openxmlformats.org/officeDocument/2006/relationships/notesMaster" Target="/ppt/notesMasters/notesMaster1.xml" Id="R2d7de526dabf4a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6b1e688cb541d0" /><Relationship Type="http://schemas.openxmlformats.org/officeDocument/2006/relationships/notesMaster" Target="/ppt/notesMasters/notesMaster1.xml" Id="R2252c86f0a5445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ba0b13803c4335" /><Relationship Type="http://schemas.openxmlformats.org/officeDocument/2006/relationships/notesMaster" Target="/ppt/notesMasters/notesMaster1.xml" Id="Rfc8fb283f6e748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395aa2dc924667" /><Relationship Type="http://schemas.openxmlformats.org/officeDocument/2006/relationships/notesMaster" Target="/ppt/notesMasters/notesMaster1.xml" Id="R068a6cd2d04641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923d17b91d460c" /><Relationship Type="http://schemas.openxmlformats.org/officeDocument/2006/relationships/notesMaster" Target="/ppt/notesMasters/notesMaster1.xml" Id="R322ee23ea5ca48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45c932c18f4248" /><Relationship Type="http://schemas.openxmlformats.org/officeDocument/2006/relationships/notesMaster" Target="/ppt/notesMasters/notesMaster1.xml" Id="R108f5f2f1f8545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290baff2b447ad" /><Relationship Type="http://schemas.openxmlformats.org/officeDocument/2006/relationships/notesMaster" Target="/ppt/notesMasters/notesMaster1.xml" Id="R23f678106c334d6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552535048a4311" /><Relationship Type="http://schemas.openxmlformats.org/officeDocument/2006/relationships/notesMaster" Target="/ppt/notesMasters/notesMaster1.xml" Id="Rbf7ec98309a14d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b7fa192c25431f" /><Relationship Type="http://schemas.openxmlformats.org/officeDocument/2006/relationships/notesMaster" Target="/ppt/notesMasters/notesMaster1.xml" Id="Rc93ae3faafd0448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5c2c5c3a0494b1d" /><Relationship Type="http://schemas.openxmlformats.org/officeDocument/2006/relationships/notesMaster" Target="/ppt/notesMasters/notesMaster1.xml" Id="Reb0414581a3d43b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e46164f33154b9f" /><Relationship Type="http://schemas.openxmlformats.org/officeDocument/2006/relationships/notesMaster" Target="/ppt/notesMasters/notesMaster1.xml" Id="R541ad8e61c3247b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50e236930734c66" /><Relationship Type="http://schemas.openxmlformats.org/officeDocument/2006/relationships/notesMaster" Target="/ppt/notesMasters/notesMaster1.xml" Id="R404d1b1360474f3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d3fedf4559441ee" /><Relationship Type="http://schemas.openxmlformats.org/officeDocument/2006/relationships/notesMaster" Target="/ppt/notesMasters/notesMaster1.xml" Id="R0653d9714016431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dd864c996124575" /><Relationship Type="http://schemas.openxmlformats.org/officeDocument/2006/relationships/notesMaster" Target="/ppt/notesMasters/notesMaster1.xml" Id="Rdf23a2b824e4446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8c1ebb9104b4c60" /><Relationship Type="http://schemas.openxmlformats.org/officeDocument/2006/relationships/notesMaster" Target="/ppt/notesMasters/notesMaster1.xml" Id="R1a1b66c687b742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S01: Пьермонт, официальный сайт. https://piermont.ru/. Прямой HTTP-срез 14.10.2026. Планировки и программы. Поисковый индекс может содержать прежние офферы.</a:t>
            </a:r>
          </a:p>
          <a:p xmlns:a="http://schemas.openxmlformats.org/drawingml/2006/main">
            <a:r>
              <a:t>S02: Заря, официальный сайт. https://zarya-ufa.ru/. Прямой HTTP-срез 14.10.2026. Срок и опубликованные финансовые офферы.</a:t>
            </a:r>
          </a:p>
          <a:p xmlns:a="http://schemas.openxmlformats.org/drawingml/2006/main">
            <a:r>
              <a:t>S04: Заря, Яндекс Недвижимость. https://realty.yandex.ru/ufa/kupit/novostrojka/zarya-4544555/. cards.sites.priceStatistics: исторические средние по комнатности. cards.sites.price.rooms: текущий фид.</a:t>
            </a:r>
          </a:p>
          <a:p xmlns:a="http://schemas.openxmlformats.org/drawingml/2006/main">
            <a:r>
              <a:t>S05: Пьермонт, Яндекс Недвижимость. https://realty.yandex.ru/ufa/kupit/novostrojka/permont-4080787/. История августа доступна, июля нет. Текущие диапазоны и предложения.</a:t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S25: МИР КВАРТИР: июль 2026. https://www.mirkvartir.ru/journal/analytics/2026/08/04/novostrojki-v-iyule/. Публикация 04.08.2026, строка Уфы. Цены предложения, городские средние.</a:t>
            </a:r>
          </a:p>
          <a:p xmlns:a="http://schemas.openxmlformats.org/drawingml/2006/main">
            <a:r>
              <a:t>S26: МИР КВАРТИР: август 2026. https://www.mirkvartir.ru/journal/analytics/2026/09/02/novostrojki-v/. Публикация 02.09.2026, строка Уфы. Та же серия, что июль.</a:t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S28: Банк России: региональное количество ИЖК. https://www.cbr.ru/vfs/statistics/BankSector/Mortgage/02_10_Quantity_mortgage.xlsx. Прямое скачивание. sheet2, строка Республика Башкортостан, A55. CN=июль2026, CO=август2026, единиц.</a:t>
            </a:r>
          </a:p>
          <a:p xmlns:a="http://schemas.openxmlformats.org/drawingml/2006/main">
            <a:r>
              <a:t>S29: Банк России: региональное количество ИЖК под ДДУ. https://www.cbr.ru/vfs/statistics/BankSector/Mortgage/02_15_Quantity_scpa_mortgage.xlsx. Прямое скачивание. sheet2, A54. CN=июль2026, CO=август2026, единиц.</a:t>
            </a:r>
          </a:p>
          <a:p xmlns:a="http://schemas.openxmlformats.org/drawingml/2006/main">
            <a:r>
              <a:t>S30: Банк России: ставки ИЖК под ДДУ. https://www.cbr.ru/vfs/statistics/BankSector/Mortgage/02_17_Rates_scpa_mortgage.xlsx. Прямое скачивание. sheet3, A54, проценты годовых. Рублёвые кредиты, включая льготные.</a:t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S02: Заря, официальный сайт. https://zarya-ufa.ru/. Прямой HTTP-срез 14.10.2026. Срок и опубликованные финансовые офферы.</a:t>
            </a:r>
          </a:p>
          <a:p xmlns:a="http://schemas.openxmlformats.org/drawingml/2006/main">
            <a:r>
              <a:t>S06: Атлантис, Яндекс Недвижимость. https://realty.yandex.ru/ufa/kupit/novostrojka/atlantis-3994529/. Исторические средние, текущий фид. Сроки различаются по литерам.</a:t>
            </a:r>
          </a:p>
          <a:p xmlns:a="http://schemas.openxmlformats.org/drawingml/2006/main">
            <a:r>
              <a:t>S07: Холмогоры, Яндекс Недвижимость. https://realty.yandex.ru/ufa/kupit/novostrojka/holmogory-3710187/. Исторические средние. Текущий прямой фид пуст, хотя официальный сайт показывает квартиры.</a:t>
            </a:r>
          </a:p>
          <a:p xmlns:a="http://schemas.openxmlformats.org/drawingml/2006/main">
            <a:r>
              <a:t>S12: Родина Парк, официальный сайт. https://tretiitrest.ru/projects/rodina-park/. Проверен также через UI. Проект 24, литеры 2 и 3.</a:t>
            </a:r>
          </a:p>
          <a:p xmlns:a="http://schemas.openxmlformats.org/drawingml/2006/main">
            <a:r>
              <a:t>S22: Биосфера Высота, ЕИСЖС, дом 13410. https://xn--80az8a.xn--d1aqf.xn--p1ai/сервисы/каталог-новостроек/объект/13410. По индексу: комфорт, ОСНОВА, завершение II кв. 2022. Прямой доступ к карточке ограничен.</a:t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S01: Пьермонт, официальный сайт. https://piermont.ru/. Прямой HTTP-срез 14.10.2026. Планировки и программы. Поисковый индекс может содержать прежние офферы.</a:t>
            </a:r>
          </a:p>
          <a:p xmlns:a="http://schemas.openxmlformats.org/drawingml/2006/main">
            <a:r>
              <a:t>S17: Динамика, официальный сайт. https://dinamica-ufa.ru/. Прямой HTTP-срез. Локация и продукт.</a:t>
            </a:r>
          </a:p>
          <a:p xmlns:a="http://schemas.openxmlformats.org/drawingml/2006/main">
            <a:r>
              <a:t>S19: Динамика, ЕИСЖС, дом 71648. https://xn--80az8a.xn--d1aqf.xn--p1ai/сервисы/каталог-новостроек/объект/71648. Кэш поиска: СЗ ГАРМОНИЯ, комфорт, IV кв. 2028. Карточка не открылась полностью.</a:t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S04: Заря, Яндекс Недвижимость. https://realty.yandex.ru/ufa/kupit/novostrojka/zarya-4544555/. cards.sites.priceStatistics: исторические средние по комнатности. cards.sites.price.rooms: текущий фид.</a:t>
            </a:r>
          </a:p>
          <a:p xmlns:a="http://schemas.openxmlformats.org/drawingml/2006/main">
            <a:r>
              <a:t>S05: Пьермонт, Яндекс Недвижимость. https://realty.yandex.ru/ufa/kupit/novostrojka/permont-4080787/. История августа доступна, июля нет. Текущие диапазоны и предложения.</a:t>
            </a:r>
          </a:p>
          <a:p xmlns:a="http://schemas.openxmlformats.org/drawingml/2006/main">
            <a:r>
              <a:t>S06: Атлантис, Яндекс Недвижимость. https://realty.yandex.ru/ufa/kupit/novostrojka/atlantis-3994529/. Исторические средние, текущий фид. Сроки различаются по литерам.</a:t>
            </a:r>
          </a:p>
          <a:p xmlns:a="http://schemas.openxmlformats.org/drawingml/2006/main">
            <a:r>
              <a:t>S08: Холмогоры, официальный сайт ГК Стратег. https://gkstrateg.ru/project/zhk-holmogory. Прямой HTTP-срез. Цены по литерам, 348 свободных квартир в публичном интерфейсе.</a:t>
            </a:r>
          </a:p>
          <a:p xmlns:a="http://schemas.openxmlformats.org/drawingml/2006/main">
            <a:r>
              <a:t>S14: Родина Парк, каталог. https://tretiitrest.ru/flats/. Фильтры project=[24], rooms=["1"], ["2"], ["3"]. Прямой серверный срез проверяет результаты UI.</a:t>
            </a:r>
          </a:p>
          <a:p xmlns:a="http://schemas.openxmlformats.org/drawingml/2006/main">
            <a:r>
              <a:t>S18: Динамика, подбор квартир. https://dinamica-ufa.ru/vybor-po-parametram/. Публичная форма содержит endpoint /api/selection/. Для 1/2/3 комнат использованы rooms и sort=price-asc. Лоты 910,1147,1320.</a:t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S04: Заря, Яндекс Недвижимость. https://realty.yandex.ru/ufa/kupit/novostrojka/zarya-4544555/. cards.sites.priceStatistics: исторические средние по комнатности. cards.sites.price.rooms: текущий фид.</a:t>
            </a:r>
          </a:p>
          <a:p xmlns:a="http://schemas.openxmlformats.org/drawingml/2006/main">
            <a:r>
              <a:t>S06: Атлантис, Яндекс Недвижимость. https://realty.yandex.ru/ufa/kupit/novostrojka/atlantis-3994529/. Исторические средние, текущий фид. Сроки различаются по литерам.</a:t>
            </a:r>
          </a:p>
          <a:p xmlns:a="http://schemas.openxmlformats.org/drawingml/2006/main">
            <a:r>
              <a:t>S07: Холмогоры, Яндекс Недвижимость. https://realty.yandex.ru/ufa/kupit/novostrojka/holmogory-3710187/. Исторические средние. Текущий прямой фид пуст, хотя официальный сайт показывает квартиры.</a:t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S04: Заря, Яндекс Недвижимость. https://realty.yandex.ru/ufa/kupit/novostrojka/zarya-4544555/. cards.sites.priceStatistics: исторические средние по комнатности. cards.sites.price.rooms: текущий фид.</a:t>
            </a:r>
          </a:p>
          <a:p xmlns:a="http://schemas.openxmlformats.org/drawingml/2006/main">
            <a:r>
              <a:t>S06: Атлантис, Яндекс Недвижимость. https://realty.yandex.ru/ufa/kupit/novostrojka/atlantis-3994529/. Исторические средние, текущий фид. Сроки различаются по литерам.</a:t>
            </a:r>
          </a:p>
          <a:p xmlns:a="http://schemas.openxmlformats.org/drawingml/2006/main">
            <a:r>
              <a:t>S07: Холмогоры, Яндекс Недвижимость. https://realty.yandex.ru/ufa/kupit/novostrojka/holmogory-3710187/. Исторические средние. Текущий прямой фид пуст, хотя официальный сайт показывает квартиры.</a:t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S05: Пьермонт, Яндекс Недвижимость. https://realty.yandex.ru/ufa/kupit/novostrojka/permont-4080787/. История августа доступна, июля нет. Текущие диапазоны и предложения.</a:t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S01: Пьермонт, официальный сайт. https://piermont.ru/. Прямой HTTP-срез 14.10.2026. Планировки и программы. Поисковый индекс может содержать прежние офферы.</a:t>
            </a:r>
          </a:p>
          <a:p xmlns:a="http://schemas.openxmlformats.org/drawingml/2006/main">
            <a:r>
              <a:t>S13: Родина Парк, лот 229. https://tretiitrest.ru/flats/393_229/. 55,9 м², 8 329 100 ₽. Ввод III кв. 2027, заселение IV кв. 2027. В SEO-описании эти события смешаны.</a:t>
            </a:r>
          </a:p>
          <a:p xmlns:a="http://schemas.openxmlformats.org/drawingml/2006/main">
            <a:r>
              <a:t>S18: Динамика, подбор квартир. https://dinamica-ufa.ru/vybor-po-parametram/. Публичная форма содержит endpoint /api/selection/. Для 1/2/3 комнат использованы rooms и sort=price-asc. Лоты 910,1147,1320.</a:t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S02: Заря, официальный сайт. https://zarya-ufa.ru/. Прямой HTTP-срез 14.10.2026. Срок и опубликованные финансовые офферы.</a:t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S09: Рассрочки ГК Стратег. https://gkstrateg.ru/page/rassrochka. ПВ, платежи, удорожание и обязательное страхование. Условия конкретного лота индивидуальны.</a:t>
            </a:r>
          </a:p>
          <a:p xmlns:a="http://schemas.openxmlformats.org/drawingml/2006/main">
            <a:r>
              <a:t>S11: Рассрочка Первого Треста. https://1trest.ru/promo/rassrochka-do-2-let. Публикация со сроком акции до 31.10.2026. Атлантис включён в перечень.</a:t>
            </a:r>
          </a:p>
          <a:p xmlns:a="http://schemas.openxmlformats.org/drawingml/2006/main">
            <a:r>
              <a:t>S15: Ипотека Третьего Треста. https://tretiitrest.ru/buyers/ipoteka/. Официальный текст предлагает от 6%. Заголовок страницы в индексе содержит 0,1%, поэтому использован основной текст.</a:t>
            </a:r>
          </a:p>
          <a:p xmlns:a="http://schemas.openxmlformats.org/drawingml/2006/main">
            <a:r>
              <a:t>S16: Трейд-ин Третьего Треста. https://tretiitrest.ru/buyers/tradein/. Опубликован способ покупки. Сроки и применимость к лоту требуют расчёта.</a:t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S04: Заря, Яндекс Недвижимость. https://realty.yandex.ru/ufa/kupit/novostrojka/zarya-4544555/. cards.sites.priceStatistics: исторические средние по комнатности. cards.sites.price.rooms: текущий фид.</a:t>
            </a:r>
          </a:p>
          <a:p xmlns:a="http://schemas.openxmlformats.org/drawingml/2006/main">
            <a:r>
              <a:t>S05: Пьермонт, Яндекс Недвижимость. https://realty.yandex.ru/ufa/kupit/novostrojka/permont-4080787/. История августа доступна, июля нет. Текущие диапазоны и предложения.</a:t>
            </a:r>
          </a:p>
          <a:p xmlns:a="http://schemas.openxmlformats.org/drawingml/2006/main">
            <a:r>
              <a:t>S32: ДОМ.РФ: семейная ипотека. https://xn--d1aqf.xn--p1ai/mortgage/family-mortgage/. Базовый лимит до 6 млн ₽ для прочих регионов. Комбинация с рыночным кредитом отдельно.</a:t>
            </a:r>
          </a:p>
          <a:p xmlns:a="http://schemas.openxmlformats.org/drawingml/2006/main">
            <a:r>
              <a:t>S33: Банк ДОМ.РФ: семейная ипотека. https://domrfbank.ru/mortgage/programs/family-mortgage/. Необходима проверка права конкретной семьи и действующей ставки. Сценарий 6% не универсальный оффер.</a:t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S31: Банк России: обзор августа 2026. https://www.cbr.ru/statistics/bank_sector/mortgage/Indicator_mortgage/0826/. Обновление 30.09.2026. РФ, не Уфа. Господдержка 56% объёма, рыночная ставка 18%.</a:t>
            </a:r>
          </a:p>
          <a:p xmlns:a="http://schemas.openxmlformats.org/drawingml/2006/main">
            <a:r>
              <a:t>S32: ДОМ.РФ: семейная ипотека. https://xn--d1aqf.xn--p1ai/mortgage/family-mortgage/. Базовый лимит до 6 млн ₽ для прочих регионов. Комбинация с рыночным кредитом отдельно.</a:t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S24: Первый Трест, рекламная карточка в 2ГИС. https://2gis.ru/ufa/geo/70030076165439923/tab/inside. Наблюдаемая помеченная реклама готовых квартир с выгодой до 20%. Нельзя приписывать скидку каждому лоту дома.</a:t>
            </a:r>
          </a:p>
          <a:p xmlns:a="http://schemas.openxmlformats.org/drawingml/2006/main">
            <a:r>
              <a:t>S34: УФА1: рекламный спецпроект. https://ufa1.ru/text/longread/2026/09/24/76659844/. Пометка Реклама, БРИГ ДЕВЕЛОПМЕНТ, erid 2SDnjecp4JX. Блок Динамики датирован 25.09.2026.</a:t>
            </a:r>
          </a:p>
          <a:p xmlns:a="http://schemas.openxmlformats.org/drawingml/2006/main">
            <a:r>
              <a:t>S35: ГК Стратег: такси до офиса. https://gkstrateg.ru/promo/taksi-za-nash-scht. Подтверждённая механика привлечения на визит. Эффективность не раскрыта.</a:t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сбора 14.10.2026.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acb98a1534d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7304228e6441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4ce82ce0a46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a07166fcc849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1392a4065844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550a777a94a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7C1DFF-F672-4F3E-8DB7-8918AD5E9F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F9DDBC-9F9C-48EF-86B1-E85B63DA37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F2C0A7-FC25-4268-9721-9B90D6A7E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8996F6-A9D3-49A4-B736-7B3D9F4EA3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676233C-45BE-48C7-89FB-E712108A16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9D57A9-D480-42A2-AB7C-DB83E67560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46AF4C-C810-47D4-B8E9-BA1E68C0F0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BE662CA-9D16-4586-A208-88BAE6DED2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9E0B6C-7B1E-4E19-846D-094EBE339D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A91A24-BDB0-42BF-B55C-FF88970739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6dc8424f1741dc" /><Relationship Type="http://schemas.openxmlformats.org/officeDocument/2006/relationships/slideLayout" Target="/ppt/slideLayouts/slideLayout1.xml" Id="Rcc0f831055474418" /><Relationship Type="http://schemas.openxmlformats.org/officeDocument/2006/relationships/slideLayout" Target="/ppt/slideLayouts/slideLayout2.xml" Id="Rebfd4d64e3ba4d56" /><Relationship Type="http://schemas.openxmlformats.org/officeDocument/2006/relationships/slideLayout" Target="/ppt/slideLayouts/slideLayout3.xml" Id="R48f97249794a46dd" /><Relationship Type="http://schemas.openxmlformats.org/officeDocument/2006/relationships/slideLayout" Target="/ppt/slideLayouts/slideLayout4.xml" Id="R45d4f134447d4b29" /><Relationship Type="http://schemas.openxmlformats.org/officeDocument/2006/relationships/slideLayout" Target="/ppt/slideLayouts/slideLayout5.xml" Id="R8efa54c0cd604ce5" /><Relationship Type="http://schemas.openxmlformats.org/officeDocument/2006/relationships/slideLayout" Target="/ppt/slideLayouts/slideLayout6.xml" Id="R2d537b942caf4e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0f831055474418"/>
    <p:sldLayoutId xmlns:r="http://schemas.openxmlformats.org/officeDocument/2006/relationships" id="2147483650" r:id="Rebfd4d64e3ba4d56"/>
    <p:sldLayoutId xmlns:r="http://schemas.openxmlformats.org/officeDocument/2006/relationships" id="2147483651" r:id="R48f97249794a46dd"/>
    <p:sldLayoutId xmlns:r="http://schemas.openxmlformats.org/officeDocument/2006/relationships" id="2147483652" r:id="R45d4f134447d4b29"/>
    <p:sldLayoutId xmlns:r="http://schemas.openxmlformats.org/officeDocument/2006/relationships" id="2147483653" r:id="R8efa54c0cd604ce5"/>
    <p:sldLayoutId xmlns:r="http://schemas.openxmlformats.org/officeDocument/2006/relationships" id="2147483654" r:id="R2d537b942caf4e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d8bf124a74509" /><Relationship Type="http://schemas.openxmlformats.org/officeDocument/2006/relationships/notesSlide" Target="/ppt/notesSlides/notesSlide1.xml" Id="R90a69954e6974e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df834433b4c02" /><Relationship Type="http://schemas.openxmlformats.org/officeDocument/2006/relationships/notesSlide" Target="/ppt/notesSlides/notesSlide2.xml" Id="R8f5156e7cdb845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5898130b2a4961" /><Relationship Type="http://schemas.openxmlformats.org/officeDocument/2006/relationships/notesSlide" Target="/ppt/notesSlides/notesSlide3.xml" Id="R1bbd6ac491c84d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601714f21a48d2" /><Relationship Type="http://schemas.openxmlformats.org/officeDocument/2006/relationships/notesSlide" Target="/ppt/notesSlides/notesSlide4.xml" Id="R4f89ebd9eb354d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60ffb9c64493e" /><Relationship Type="http://schemas.openxmlformats.org/officeDocument/2006/relationships/notesSlide" Target="/ppt/notesSlides/notesSlide5.xml" Id="R86c766e4318f46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289607532a4065" /><Relationship Type="http://schemas.openxmlformats.org/officeDocument/2006/relationships/notesSlide" Target="/ppt/notesSlides/notesSlide6.xml" Id="Rfeda73a88b8b41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02ab6c37524df3" /><Relationship Type="http://schemas.openxmlformats.org/officeDocument/2006/relationships/notesSlide" Target="/ppt/notesSlides/notesSlide7.xml" Id="R85fc5140feb34c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b389093eda4f46" /><Relationship Type="http://schemas.openxmlformats.org/officeDocument/2006/relationships/notesSlide" Target="/ppt/notesSlides/notesSlide8.xml" Id="Reffa08073ae146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4b3d3cfcad44df" /><Relationship Type="http://schemas.openxmlformats.org/officeDocument/2006/relationships/chart" Target="/ppt/slides/charts/chart1.xml" Id="Rd159b71c496c493a" /><Relationship Type="http://schemas.openxmlformats.org/officeDocument/2006/relationships/notesSlide" Target="/ppt/notesSlides/notesSlide9.xml" Id="R020524d5a3d740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5c5a282a2c4464" /><Relationship Type="http://schemas.openxmlformats.org/officeDocument/2006/relationships/notesSlide" Target="/ppt/notesSlides/notesSlide10.xml" Id="R71c6f5cedf8d41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c98097c1294c09" /><Relationship Type="http://schemas.openxmlformats.org/officeDocument/2006/relationships/notesSlide" Target="/ppt/notesSlides/notesSlide11.xml" Id="Rd1734260ac0241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5af76ed0114583" /><Relationship Type="http://schemas.openxmlformats.org/officeDocument/2006/relationships/notesSlide" Target="/ppt/notesSlides/notesSlide12.xml" Id="R465398c13ae04f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0917899fa47ef" /><Relationship Type="http://schemas.openxmlformats.org/officeDocument/2006/relationships/notesSlide" Target="/ppt/notesSlides/notesSlide13.xml" Id="Re4816b31df3640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73cdbd17624b23" /><Relationship Type="http://schemas.openxmlformats.org/officeDocument/2006/relationships/notesSlide" Target="/ppt/notesSlides/notesSlide14.xml" Id="Re8eb003c8edb42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066a9a3d9f4f41" /><Relationship Type="http://schemas.openxmlformats.org/officeDocument/2006/relationships/notesSlide" Target="/ppt/notesSlides/notesSlide15.xml" Id="R275471969c9949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ce7bf98d37434d" /><Relationship Type="http://schemas.openxmlformats.org/officeDocument/2006/relationships/notesSlide" Target="/ppt/notesSlides/notesSlide16.xml" Id="R0a9b1002f8e34cd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025424f74474a" /><Relationship Type="http://schemas.openxmlformats.org/officeDocument/2006/relationships/notesSlide" Target="/ppt/notesSlides/notesSlide17.xml" Id="R41188f6f1c8749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5bfc5a3dec4fd5" /><Relationship Type="http://schemas.openxmlformats.org/officeDocument/2006/relationships/notesSlide" Target="/ppt/notesSlides/notesSlide18.xml" Id="R6ad24dca1b3143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ae188df757493d" /><Relationship Type="http://schemas.openxmlformats.org/officeDocument/2006/relationships/notesSlide" Target="/ppt/notesSlides/notesSlide19.xml" Id="Rbfe5b2514c874da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e914fd2b07474c" /><Relationship Type="http://schemas.openxmlformats.org/officeDocument/2006/relationships/notesSlide" Target="/ppt/notesSlides/notesSlide20.xml" Id="Red6ea6bc89b5449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b9bd7d833242b7" /><Relationship Type="http://schemas.openxmlformats.org/officeDocument/2006/relationships/notesSlide" Target="/ppt/notesSlides/notesSlide21.xml" Id="R08562d59e7ac493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ffa4ef86224cc4" /><Relationship Type="http://schemas.openxmlformats.org/officeDocument/2006/relationships/notesSlide" Target="/ppt/notesSlides/notesSlide22.xml" Id="Rb9af899b15a84b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8061bdf7f64627" /><Relationship Type="http://schemas.openxmlformats.org/officeDocument/2006/relationships/notesSlide" Target="/ppt/notesSlides/notesSlide23.xml" Id="R618f55a2be66414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7f07d8620e4f42" /><Relationship Type="http://schemas.openxmlformats.org/officeDocument/2006/relationships/notesSlide" Target="/ppt/notesSlides/notesSlide24.xml" Id="R7ebfd7e3886a447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Заря</c:v>
          </c:tx>
          <c:spPr>
            <a:solidFill xmlns:a="http://schemas.openxmlformats.org/drawingml/2006/main">
              <a:srgbClr val="23746A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1-комнатные</c:v>
                </c:pt>
                <c:pt idx="1">
                  <c:v>2-комнатные</c:v>
                </c:pt>
                <c:pt idx="2">
                  <c:v>3-комнатные</c:v>
                </c:pt>
              </c:strCache>
            </c:strRef>
          </c:cat>
          <c:val>
            <c:numRef>
              <c:f>'Chart Data'!$B$2:$B$4</c:f>
              <c:numCache>
                <c:formatCode>0.00"%"</c:formatCode>
                <c:ptCount val="3"/>
                <c:pt idx="0">
                  <c:v>3.24</c:v>
                </c:pt>
                <c:pt idx="1">
                  <c:v>2.7</c:v>
                </c:pt>
                <c:pt idx="2">
                  <c:v>3.92</c:v>
                </c:pt>
              </c:numCache>
            </c:numRef>
          </c:val>
        </c:ser>
        <c:ser>
          <c:idx val="1"/>
          <c:order val="1"/>
          <c:tx>
            <c:v>Атлантис</c:v>
          </c:tx>
          <c:spPr>
            <a:solidFill xmlns:a="http://schemas.openxmlformats.org/drawingml/2006/main">
              <a:srgbClr val="B88455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1-комнатные</c:v>
                </c:pt>
                <c:pt idx="1">
                  <c:v>2-комнатные</c:v>
                </c:pt>
                <c:pt idx="2">
                  <c:v>3-комнатные</c:v>
                </c:pt>
              </c:strCache>
            </c:strRef>
          </c:cat>
          <c:val>
            <c:numRef>
              <c:f>'Chart Data'!$D$2:$D$4</c:f>
              <c:numCache>
                <c:formatCode>0.00"%"</c:formatCode>
                <c:ptCount val="3"/>
                <c:pt idx="0">
                  <c:v>0.28</c:v>
                </c:pt>
                <c:pt idx="1">
                  <c:v>-1.21</c:v>
                </c:pt>
                <c:pt idx="2">
                  <c:v>-3.36</c:v>
                </c:pt>
              </c:numCache>
            </c:numRef>
          </c:val>
        </c:ser>
        <c:ser>
          <c:idx val="2"/>
          <c:order val="2"/>
          <c:tx>
            <c:v>Холмогоры</c:v>
          </c:tx>
          <c:spPr>
            <a:solidFill xmlns:a="http://schemas.openxmlformats.org/drawingml/2006/main">
              <a:srgbClr val="8695A2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1-комнатные</c:v>
                </c:pt>
                <c:pt idx="1">
                  <c:v>2-комнатные</c:v>
                </c:pt>
                <c:pt idx="2">
                  <c:v>3-комнатные</c:v>
                </c:pt>
              </c:strCache>
            </c:strRef>
          </c:cat>
          <c:val>
            <c:numRef>
              <c:f>'Chart Data'!$F$2:$F$4</c:f>
              <c:numCache>
                <c:formatCode>0.00"%"</c:formatCode>
                <c:ptCount val="3"/>
                <c:pt idx="0">
                  <c:v>0.1</c:v>
                </c:pt>
                <c:pt idx="1">
                  <c:v>0.41</c:v>
                </c:pt>
                <c:pt idx="2">
                  <c:v>-0.04</c:v>
                </c:pt>
              </c:numCache>
            </c:numRef>
          </c:val>
        </c:ser>
        <c:dLbls>
          <c:numFmt formatCode="0.0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72A2C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5F4F0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DA"/>
              </a:solidFill>
              <a:prstDash val="solid"/>
            </a:ln>
          </c:spPr>
        </c:majorGridlines>
        <c:numFmt formatCode="0.0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4F0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5F4F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424A995-AB3E-4E34-AF55-CEE396D6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ХартДевелопмент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E4DC2E8-B9C1-40D5-9213-D1DF8861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553B7DF-0B2A-40E5-A26D-DB55C158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3FE96CF-CA03-4A83-8DD6-E9E111CA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6203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6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Рынок Уфы</a:t>
            </a:r>
          </a:p>
          <a:p xmlns:a="http://schemas.openxmlformats.org/drawingml/2006/main">
            <a:pPr>
              <a:defRPr sz="465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и стратегия продаж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634989F-0458-4133-98CC-7AE54E4C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Заря и Пьермонт</a:t>
            </a:r>
          </a:p>
          <a:p xmlns:a="http://schemas.openxmlformats.org/drawingml/2006/main">
            <a:pPr>
              <a:defRPr sz="2250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Исследование на 14 октября 2026 года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34094EA-579C-4C50-8DE1-A3BFB513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История цен: июль–август 2026. Открытые данные и расчётные сценарии.</a:t>
            </a:r>
          </a:p>
        </p:txBody>
      </p:sp>
    </p:spTree>
    <p:extLst>
      <p:ext uri="{BB962C8B-B14F-4D97-AF65-F5344CB8AC3E}">
        <p14:creationId xmlns:p14="http://schemas.microsoft.com/office/powerpoint/2010/main" val="1354649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218BC1B7-6B5F-431F-B364-94156972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Заре нужен отбор покупателей,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Пьермонту нужно объяснение премии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C7AF6E3-C47B-43F5-B746-57715D53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B10A787-B04D-44BB-B0BE-86E603DE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S01, S02, S04, S05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B07CD3F-5CF4-4DD9-8954-B640BCFF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Заря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491C1F5-1359-41C3-90FE-E9D653AD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097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Финансовые офферы есть. Групповые цены ниже двух выбранных конкурентов.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B95A1C8-EE27-47A3-94F8-2D0E7383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Пьермонт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F8A717A-475D-407D-A28B-D6EDABEA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Семейный входной чек требует значительных собственных средств.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06EF4B8-6ABA-4266-A07D-F4EDA375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Общий подход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709F91C-BBAD-4777-827F-F8A152A1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433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Считать квалифицированные встречи и договоры с учётом срока сделки.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A2A253B-164C-4FD5-A3D8-B2957ECE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Рекомендации аналитика. Причины отказов требуют проверки в CRM.</a:t>
            </a:r>
          </a:p>
        </p:txBody>
      </p:sp>
    </p:spTree>
    <p:extLst>
      <p:ext uri="{BB962C8B-B14F-4D97-AF65-F5344CB8AC3E}">
        <p14:creationId xmlns:p14="http://schemas.microsoft.com/office/powerpoint/2010/main" val="1484874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DA73EA3D-27F0-42E3-8BDA-6A8DE2D2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Сумма бюджета зависит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от внутреннего плана и воронки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203D2AB-6155-4FE0-9A1F-50E14E87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12DCE64-FE0A-4A38-87E1-9052FA48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F8A4BB6-C93C-4DE8-B1CD-2EC16096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Деньги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E30E72B-D637-43A4-9608-7BADF454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097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Разделить стоимость договоров, поступления и выручку по октябрю–декабрю.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E5B1A29-4347-422E-9A32-77905A6E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70 / 30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8854E01-14C3-42A9-87AF-ECF94E38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Смысл долей не определён. Стратегия для 30% пока не рассчитывается.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5A44F3C-5DA2-4931-BBDF-E285C6FF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Расходы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B833E50-4C7D-44B3-AEB2-A97413D6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433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Нужны комиссии, ФОТ и фактические конверсии/CPL. Ниже дана чувствительность.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19A3010-67E5-43B2-83BB-085AB44F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План встречи задаёт логику защиты, но не содержит сумм и CRM-данных.</a:t>
            </a:r>
          </a:p>
        </p:txBody>
      </p:sp>
    </p:spTree>
    <p:extLst>
      <p:ext uri="{BB962C8B-B14F-4D97-AF65-F5344CB8AC3E}">
        <p14:creationId xmlns:p14="http://schemas.microsoft.com/office/powerpoint/2010/main" val="14649205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61A3795-4E60-4857-9D84-1A6A5DD3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Средняя цена предложения Уфы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выросла примерно на 1% за август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113AE78-F10A-4F8A-8A8B-EB061A8E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ABB1557-8956-4979-BBCB-0D22A1AF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S25, S26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3B243-EA63-4F34-8FFD-D44F4B74224E}"/>
              </a:ext>
            </a:extLst>
          </p:cNvPr>
          <p:cNvGraphicFramePr/>
          <p:nvPr/>
        </p:nvGraphicFramePr>
        <p:xfrm>
          <a:off xmlns:a="http://schemas.openxmlformats.org/drawingml/2006/main" x="685800" y="2028825"/>
          <a:ext xmlns:a="http://schemas.openxmlformats.org/drawingml/2006/main" cx="108204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333625"/>
                <a:gridCol w="2333625"/>
                <a:gridCol w="2247900"/>
              </a:tblGrid>
              <a:tr h="793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Новостройки Уфы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Июль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Август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Изменение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Цена м²,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175 209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176 928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+0,98%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Средний лот,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8 057 162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8 171 153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+1,41%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9C34D62-9956-4D02-B353-1E3A0475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Один источник, два месяца. Состав предложения может меняться. Цены сделок не измерены.</a:t>
            </a:r>
          </a:p>
        </p:txBody>
      </p:sp>
    </p:spTree>
    <p:extLst>
      <p:ext uri="{BB962C8B-B14F-4D97-AF65-F5344CB8AC3E}">
        <p14:creationId xmlns:p14="http://schemas.microsoft.com/office/powerpoint/2010/main" val="17201166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5D04AD6-D255-4F6D-B990-739D854F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Ипотеки под ДДУ выросли к июлю,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но ниже августа прошлого года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33F3560-07F2-4A17-9F90-2D394BDE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F1D344F-75A6-498E-8817-52D23FD6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S28, S29, S30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32FD6-CC7E-4FBD-B771-4EEE53D0AC7C}"/>
              </a:ext>
            </a:extLst>
          </p:cNvPr>
          <p:cNvGraphicFramePr/>
          <p:nvPr/>
        </p:nvGraphicFramePr>
        <p:xfrm>
          <a:off xmlns:a="http://schemas.openxmlformats.org/drawingml/2006/main" x="685800" y="2009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333625"/>
                <a:gridCol w="2333625"/>
                <a:gridCol w="2247900"/>
              </a:tblGrid>
              <a:tr h="73580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Башкортостан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Июль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Август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Изменение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73580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Все рублёвые ИЖК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3 393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3 292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−3,0%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80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ИЖК под ДДУ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+10,2%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80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Ставка под ДДУ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7,89%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7,52%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−0,37 п.п.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E13825B-0ADB-40E9-999D-E745E89C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Август под ДДУ: −26,6% год к году. Региональные кредиты не равны продажам Уфы.</a:t>
            </a:r>
          </a:p>
        </p:txBody>
      </p:sp>
    </p:spTree>
    <p:extLst>
      <p:ext uri="{BB962C8B-B14F-4D97-AF65-F5344CB8AC3E}">
        <p14:creationId xmlns:p14="http://schemas.microsoft.com/office/powerpoint/2010/main" val="7469199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D02593D-DEAE-478A-8DFD-79A69E31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Сипайлово и Планета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дают Заре разные альтернативы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D15FE71-FB1B-4F0A-A40B-F22A7105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E7AE2E4-3854-4E45-8C84-22B254D7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S02, S06, S07, S12, S22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AA2F0-17D0-4961-A267-21F7F6078973}"/>
              </a:ext>
            </a:extLst>
          </p:cNvPr>
          <p:cNvGraphicFramePr/>
          <p:nvPr/>
        </p:nvGraphicFramePr>
        <p:xfrm>
          <a:off xmlns:a="http://schemas.openxmlformats.org/drawingml/2006/main" x="685800" y="1876425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000500"/>
                <a:gridCol w="4248150"/>
              </a:tblGrid>
              <a:tr h="579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Проект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Продукт / локация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Публичный ориентир ввода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Комфорт / Сипайлово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III кв. 2029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Атлантис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Бизнес / Кашкадан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IV кв. 2027–III кв. 2029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Холмогоры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Бизнес / Глумилино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IV кв. 2026–IV кв. 2028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Родина Парк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Комфорт / Чудская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Литер 3: III кв. 2027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Биосфера Высота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Готовый комфорт / Планета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Дом 2022 года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CBDBF1B-33E5-42DB-AEB9-D4169C97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Сроки зависят от корпуса. Вторичку готового дома сравнивать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8960730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F272975-CC75-4AEB-80C7-9B09C4CF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Заданный круг конкурентов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не заменяет аналоги Зелёной Рощи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9E08278-006A-46A7-8B01-E79F78BE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66EB0CE-38EE-4844-85AE-8809B2BE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S01, S17, S19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A937818-E227-4524-A756-E8426D16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Пьермонт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26BD48A-0CE3-4937-962D-93E48CC8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097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Бизнес-класс, южный склон Усольской горы. Заявленный ввод III кв. 2028.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390DF5D-8694-492A-9DF2-E405FC22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Динамика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9D4E2EE-EA8E-46D2-98D0-3778467D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Комфорт на Революционной. Ценовой ориентир, другая микролокация.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8DC3144-A484-4288-A5AC-06629BC2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Ограничение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EAFFB44-BACB-41E8-9539-EE545BFF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433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У Динамики конфликт сроков: IV кв. 2028 и II кв. 2029 в разных источниках.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12B35C4-8A7E-42DA-9A9D-4DD4F1D2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Для Пьермонта нужен дополнительный отбор локальных бизнес-аналогов.</a:t>
            </a:r>
          </a:p>
        </p:txBody>
      </p:sp>
    </p:spTree>
    <p:extLst>
      <p:ext uri="{BB962C8B-B14F-4D97-AF65-F5344CB8AC3E}">
        <p14:creationId xmlns:p14="http://schemas.microsoft.com/office/powerpoint/2010/main" val="1461858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3BAFEA4-077A-4707-85A0-DB418941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Стартовая цена студии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не объясняет бюджет семейной покупки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88206CD-CA1F-4B19-8CE3-406A7AC5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1C7E056-8671-4210-802E-404152BC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S04, S05, S06, S08, S14, S18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9A027-8D4B-4028-AB9F-D642DEBBCDA4}"/>
              </a:ext>
            </a:extLst>
          </p:cNvPr>
          <p:cNvGraphicFramePr/>
          <p:nvPr/>
        </p:nvGraphicFramePr>
        <p:xfrm>
          <a:off xmlns:a="http://schemas.openxmlformats.org/drawingml/2006/main" x="685800" y="1924050"/>
          <a:ext xmlns:a="http://schemas.openxmlformats.org/drawingml/2006/main" cx="108204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62400"/>
                <a:gridCol w="2286000"/>
                <a:gridCol w="2286000"/>
                <a:gridCol w="2286000"/>
              </a:tblGrid>
              <a:tr h="48441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Цена «от», млн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48441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6,56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9,47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11,60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441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8,91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12,16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17,40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441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Атлантис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6,75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11,67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441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Холмогоры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6,30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9,30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441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Родина Парк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9,50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441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Динамика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9,20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11,01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73F58BF-B11A-4598-AA0A-82FA36CA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Срез 14.10. Разные площади, литеры и евроформаты. Это входной чек, не рейтинг аналогов.</a:t>
            </a:r>
          </a:p>
        </p:txBody>
      </p:sp>
    </p:spTree>
    <p:extLst>
      <p:ext uri="{BB962C8B-B14F-4D97-AF65-F5344CB8AC3E}">
        <p14:creationId xmlns:p14="http://schemas.microsoft.com/office/powerpoint/2010/main" val="14770194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A47B3661-5FE1-4E85-808C-980C6455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Заря росла быстрее выбранных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ценовых групп в июле–августе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C7E1E5B-41ED-4FEE-B026-340FF7E0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0285BAC-DBF4-4BEE-8103-3EEFFBD5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S04, S06, S07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C48F558-61F1-47B9-9C31-C4DC04B6805F}"/>
              </a:ext>
            </a:extLst>
          </p:cNvPr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10715625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59b71c496c493a"/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82A305B-7CA7-48FD-AC6D-AF7A957A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768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1-комнатные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69713FE-0F09-4A48-A9A8-CF90AE29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768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2-комнатные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0E7B9C89-355D-4FBB-A511-3847A275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768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3-комнатные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90FBDE0-5F35-4D7A-8753-C5E2544A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Изменение средних цен предложения м². Переоценка и состав лотов не разделены.</a:t>
            </a:r>
          </a:p>
        </p:txBody>
      </p:sp>
    </p:spTree>
    <p:extLst>
      <p:ext uri="{BB962C8B-B14F-4D97-AF65-F5344CB8AC3E}">
        <p14:creationId xmlns:p14="http://schemas.microsoft.com/office/powerpoint/2010/main" val="15351408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8364419-460C-4946-977C-6413A193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В августе Заря дешевле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Атлантиса и Холмогор по группам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61F0595-3C22-4957-A9DD-B357F87E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DFB0BB7-6F76-4137-BD0B-FFA2D592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S04, S06, S07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4B42D-43B9-4556-B0A0-1DCAD92BC440}"/>
              </a:ext>
            </a:extLst>
          </p:cNvPr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108204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62400"/>
                <a:gridCol w="2286000"/>
                <a:gridCol w="2286000"/>
                <a:gridCol w="2286000"/>
              </a:tblGrid>
              <a:tr h="67865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Средняя цена м²,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206 778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182 798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170 485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Атлантис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231 553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229 101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213 093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Холмогоры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219 612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189 874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185 105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6CFD878-2762-44F5-8A00-DCED8370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Общая гипотеза «Заря слишком дорогая» не подтверждена. Готовность и качество различаются.</a:t>
            </a:r>
          </a:p>
        </p:txBody>
      </p:sp>
    </p:spTree>
    <p:extLst>
      <p:ext uri="{BB962C8B-B14F-4D97-AF65-F5344CB8AC3E}">
        <p14:creationId xmlns:p14="http://schemas.microsoft.com/office/powerpoint/2010/main" val="4549652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2C8D07C-53D6-4C1B-86CC-C22DA0C0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Июль Пьермонта в найденном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ряде отсутствует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8591E1D-540E-4753-81D7-8C2257F8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DA27614-0534-4EE8-A73A-201D3AEE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S05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055D6-EB2A-4FD2-A828-5BABD20B3B03}"/>
              </a:ext>
            </a:extLst>
          </p:cNvPr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108204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952750"/>
                <a:gridCol w="4724400"/>
              </a:tblGrid>
              <a:tr h="67865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Июль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Август, ₽/м²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Нет данных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232 354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Нет данных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217 553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Нет данных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219 127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0E1E39D-8F45-4C2D-B618-667AB09F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Изменение за июль–август не рассчитано. Постоянная корзина и гедоника требуют архивных лотов.</a:t>
            </a:r>
          </a:p>
        </p:txBody>
      </p:sp>
    </p:spTree>
    <p:extLst>
      <p:ext uri="{BB962C8B-B14F-4D97-AF65-F5344CB8AC3E}">
        <p14:creationId xmlns:p14="http://schemas.microsoft.com/office/powerpoint/2010/main" val="5650800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18641BA-6AED-43C8-9C49-F5D793F5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Пьермонт имеет высокий чек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в сопоставимом диапазоне площадей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03FDB43-16B0-44DD-A91A-53826855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13FC64-1EEC-4E28-B342-195221B8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S01, S13, S18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A14E6-1DD4-4FD6-A706-C55E2426751E}"/>
              </a:ext>
            </a:extLst>
          </p:cNvPr>
          <p:cNvGraphicFramePr/>
          <p:nvPr/>
        </p:nvGraphicFramePr>
        <p:xfrm>
          <a:off xmlns:a="http://schemas.openxmlformats.org/drawingml/2006/main" x="685800" y="2028825"/>
          <a:ext xmlns:a="http://schemas.openxmlformats.org/drawingml/2006/main" cx="108204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057400"/>
                <a:gridCol w="2286000"/>
                <a:gridCol w="22860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Пример 2к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Площадь, м²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Цена, млн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Расчёт ₽/м²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Пьермонт, планировка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55,12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от 12,16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220 577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Родина Парк, №229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55,90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149 000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Динамика, №292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54,43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9,20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169 000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32AFC90-5BBC-40F4-AD41-3D34FB7D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Девять примеров в отчёте. Этаж, локация и готовность различаются. Это не оценка справедливой цены.</a:t>
            </a:r>
          </a:p>
        </p:txBody>
      </p:sp>
    </p:spTree>
    <p:extLst>
      <p:ext uri="{BB962C8B-B14F-4D97-AF65-F5344CB8AC3E}">
        <p14:creationId xmlns:p14="http://schemas.microsoft.com/office/powerpoint/2010/main" val="20513685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7A9E3A56-9810-41FC-88BC-B3D822A1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У Зари уже опубликованы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финансовые способы покупки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891DA2C-065A-4C4E-9E52-5D6FAB40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E1EBC80-1287-4446-9075-67335EE4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S02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663F279-1904-4367-ABEF-B58D238A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Траншевая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6CAF8E1-871E-43D0-8B30-3E0F97D9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097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Рекламируемый платёж от 7 941 ₽/мес. ПСК 18,014–24,812%.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4FA1152-DE0E-4B95-A005-8F006CAD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Первый год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45EAC4B-E290-46CC-887F-1A2C2ED2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4,4% на первые 12 месяцев. ПСК 21,426–21,514%.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F3022E8-0034-4238-8EA8-443DCFA2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Рассрочка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1B6C52-1EB0-41E5-BF43-9CB9CEB5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433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Платёж от 35 000 ₽/мес. Полный график и остаток публично не раскрыты.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9CF971F-70E1-4847-805A-BF98FE2C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Наличие оффера подтверждено. Доступность каждому клиенту и выгода требуют расчёта.</a:t>
            </a:r>
          </a:p>
        </p:txBody>
      </p:sp>
    </p:spTree>
    <p:extLst>
      <p:ext uri="{BB962C8B-B14F-4D97-AF65-F5344CB8AC3E}">
        <p14:creationId xmlns:p14="http://schemas.microsoft.com/office/powerpoint/2010/main" val="8314382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8BD10119-C29B-412C-B993-EF6E016F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Конкуренты продают оплату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вместе с продуктом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E3AA7E1-100F-44D6-A1A6-E0862E6F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D738BD0-0D5F-4E99-ABC4-F5C2B52F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S09, S11, S15, S16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E887A00-7FBC-44DE-A45F-95DB1353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Атлантис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639C55C-9E60-40C5-9410-1917FD44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097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0% рассрочка до 2 лет, 50 000 ₽/мес. Применимость к лоту индивидуальна.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7711D18-0A6A-4826-87A9-1DE0E2FD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Холмогоры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6A7F561-99D4-4D77-90A4-2B150DBB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Без удорожания: ПВ от 30%, платёж от 50 000 ₽. Есть программы с удорожанием.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B2FA292-4A41-4DE9-8C6E-57D5D637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Родина Парк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C77D6F2-809F-46AE-8E38-36A3663B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433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Ипотека от 6% и трейд-ин. Условия банка и право клиента требуют проверки.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D547B76-4319-41E9-AC87-0DF299F8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Малый первый платёж сравнивать вместе с ПВ, последующей нагрузкой и финальным остатком.</a:t>
            </a:r>
          </a:p>
        </p:txBody>
      </p:sp>
    </p:spTree>
    <p:extLst>
      <p:ext uri="{BB962C8B-B14F-4D97-AF65-F5344CB8AC3E}">
        <p14:creationId xmlns:p14="http://schemas.microsoft.com/office/powerpoint/2010/main" val="18831327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11D4894-09C0-4A52-99AF-A1ECF1CE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Лимит кредита оставляет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большой взнос на семейные лоты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6468B76-0B53-41BD-8D9F-940D9F65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1EC3BA6-31A2-4FF4-BC42-9B3D3E68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S04, S05, S32, S33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4E3B5-5434-4A34-B04E-B9FC01D853D5}"/>
              </a:ext>
            </a:extLst>
          </p:cNvPr>
          <p:cNvGraphicFramePr/>
          <p:nvPr/>
        </p:nvGraphicFramePr>
        <p:xfrm>
          <a:off xmlns:a="http://schemas.openxmlformats.org/drawingml/2006/main" x="685800" y="2019300"/>
          <a:ext xmlns:a="http://schemas.openxmlformats.org/drawingml/2006/main" cx="108204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190750"/>
                <a:gridCol w="3200400"/>
                <a:gridCol w="2286000"/>
              </a:tblGrid>
              <a:tr h="4653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Лот «от»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Цена, млн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Свои деньги, млн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Доля взноса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 / 1к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6.56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 / 2к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9.47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3.47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36.6%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Заря / 3к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11.60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5.60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48.3%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 / 1к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8.91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2.91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32.7%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 / 2к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12.16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6.16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50.7%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Пьермонт / 3к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17.40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11.40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65.5%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B65F086-A7DE-4B53-9557-7FF0198D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Сценарий: лимит 6 млн ₽, ПВ ≥20,1%, без рыночной части. Право на льготу не подтверждено.</a:t>
            </a:r>
          </a:p>
        </p:txBody>
      </p:sp>
    </p:spTree>
    <p:extLst>
      <p:ext uri="{BB962C8B-B14F-4D97-AF65-F5344CB8AC3E}">
        <p14:creationId xmlns:p14="http://schemas.microsoft.com/office/powerpoint/2010/main" val="20128423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028432E-BFDA-4A2B-9F48-62D42818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Полный платёж важнее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временного льготного периода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96D0E7F-BCAC-4336-82B5-8B9F1E1E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334B1AC-815E-4C45-A7E4-EFDF0274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S31, S32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EA12E-A69C-49ED-9FF5-3A1960483025}"/>
              </a:ext>
            </a:extLst>
          </p:cNvPr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67400"/>
                <a:gridCol w="2476500"/>
                <a:gridCol w="2476500"/>
              </a:tblGrid>
              <a:tr h="8191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Кредит 6 млн ₽, 30 лет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Модельный платёж, ₽/мес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35 973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90 425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Доход при доле платежа 40%,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89 933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226 063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141AD9F-2136-4439-B0A5-4C326B0A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6% и 18% — сценарии. 18% — ориентир статистики РФ, не предложение по конкретному ЖК.</a:t>
            </a:r>
          </a:p>
        </p:txBody>
      </p:sp>
    </p:spTree>
    <p:extLst>
      <p:ext uri="{BB962C8B-B14F-4D97-AF65-F5344CB8AC3E}">
        <p14:creationId xmlns:p14="http://schemas.microsoft.com/office/powerpoint/2010/main" val="1446357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B84AFD6-E147-40AF-87CB-11AAD8B6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Реклама конкурентов объясняет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сценарий жизни и упрощает визит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56F8F97-BEAF-4A13-8A3C-B61FB363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095D336-55C1-4645-9318-82132684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S24, S34, S35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678D7F1-E68A-4343-A2B7-C7DB97F6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Динамика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31BDE8D-1C2D-48EB-93D9-1CE28929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097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Помеченный рекламный спецпроект УФА1. Центр, дом и работа в одном квартале.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95ED366-F572-4077-ABD0-FA289121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Первый Трест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7CC1605-FC93-421B-B213-F502EBBE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Помеченная реклама в 2ГИС. Готовые квартиры и выгода до 20%.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5E1FFA3-1AD1-4374-B1B0-2FF79C1A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Стратег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F2A9C8E-5E4F-4F97-AAA2-6E978593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433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Опубликована механика такси до офиса продаж и обратно.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4289556-26C8-4E09-86CB-A45070B8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Канал и материал наблюдаемы. Расходы, эффективность и мотивы конкурентов не раскрыты.</a:t>
            </a:r>
          </a:p>
        </p:txBody>
      </p:sp>
    </p:spTree>
    <p:extLst>
      <p:ext uri="{BB962C8B-B14F-4D97-AF65-F5344CB8AC3E}">
        <p14:creationId xmlns:p14="http://schemas.microsoft.com/office/powerpoint/2010/main" val="14278502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B5FBA0F-1CFF-4B34-B777-A2A6C476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Для Зари стоит сохранить продажи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 финансовой квалификацией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206BFD4-078E-494A-BEB6-68371B01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60E620A-C987-4E18-B7EF-A2191926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E0207D5-157B-4386-A739-990B5D0C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Аудитория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5D0E8E9-5F5E-4754-B7CD-37BE8887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097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Семья с льготным правом и ПВ. Покупатель с продажей имеющегося жилья.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8FA3DC7-5A54-4B84-83AC-CD1EF4DD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Оффер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D18C2A2-7BC4-435E-84AC-B70AB0FF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Конкретные планировки, срок ожидания и полный график оплаты.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1E3444B-0205-405B-9F7B-E543C0DA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Действие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783C040-397A-4EF5-91AC-B356CEA1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433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Подбор квартир и расчёт платежей. Затем встреча или показ локации.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4F65EF4-C54A-45E1-AAF1-112DBEA9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Рекомендация: проверить ограничения по CRM перед сокращением лидогенерации.</a:t>
            </a:r>
          </a:p>
        </p:txBody>
      </p:sp>
    </p:spTree>
    <p:extLst>
      <p:ext uri="{BB962C8B-B14F-4D97-AF65-F5344CB8AC3E}">
        <p14:creationId xmlns:p14="http://schemas.microsoft.com/office/powerpoint/2010/main" val="18162118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DD5DBC79-8F49-4AE5-A373-FD567EC7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Пьермонту нужен персональный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подбор под подтверждённый бюджет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EA8A87B-3B65-433C-A2A5-0A7511E0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7141B59-0DED-4C86-97CC-7DFD1CA3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62221C1-02E8-4CD5-8A1D-B9C30EF5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Разделение лотов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7BF8601-6EED-49B7-9C72-C65F8D96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097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Семейные квартиры и редкие форматы продвигать разными сообщениями.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46E82B0-8BBF-415B-8196-922FECA6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Встреча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2B080B9-475B-4131-86D8-B65E9465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Планировка, виды, строительство и полная стоимость покупки.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0EC5C38-0389-42DE-BD0A-CCB588D1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Эффект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200EB0D-270B-48C7-AE33-0441FAB9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433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Стоимость квалифицированной встречи, бронь и договор с учётом лага.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205585E-7632-4CB0-9AE5-7F6F2389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Рекомендация. Наличие готового трейд-ин HART не подтверждено.</a:t>
            </a:r>
          </a:p>
        </p:txBody>
      </p:sp>
    </p:spTree>
    <p:extLst>
      <p:ext uri="{BB962C8B-B14F-4D97-AF65-F5344CB8AC3E}">
        <p14:creationId xmlns:p14="http://schemas.microsoft.com/office/powerpoint/2010/main" val="16861436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FE3B244-F49A-48A6-9CEB-7CC00C96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Конверсия меняет стоимость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одной сделки в несколько раз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56C714D-FF74-48E1-88E3-DC010C3F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DE4270-32CF-424D-BF98-8C3157D6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r>
              <a:t/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D3F36-1204-4C08-A4BE-8DE281F4F94F}"/>
              </a:ext>
            </a:extLst>
          </p:cNvPr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62400"/>
                <a:gridCol w="2286000"/>
                <a:gridCol w="2286000"/>
                <a:gridCol w="2286000"/>
              </a:tblGrid>
              <a:tr h="69056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CPL валидного лида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 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 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 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T w="9525">
                      <a:solidFill>
                        <a:srgbClr val="D6DDDA"/>
                      </a:solidFill>
                      <a:prstDash val="solid"/>
                    </a:lnT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172A2C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3 000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300 000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150 000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100 000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5 000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500 000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250 000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166 667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8 000 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DDA"/>
                      </a:solidFill>
                      <a:prstDash val="solid"/>
                    </a:lnL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800 000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400 000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266 667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DDA"/>
                      </a:solidFill>
                      <a:prstDash val="solid"/>
                    </a:lnR>
                    <a:lnB w="9525">
                      <a:solidFill>
                        <a:srgbClr val="D6DD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C64CE31-3095-4458-8168-F7F35C44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Сценарная чувствительность. Расход = CPL / CR. Ни прогноз, ни утверждённый бюджет.</a:t>
            </a:r>
          </a:p>
        </p:txBody>
      </p:sp>
    </p:spTree>
    <p:extLst>
      <p:ext uri="{BB962C8B-B14F-4D97-AF65-F5344CB8AC3E}">
        <p14:creationId xmlns:p14="http://schemas.microsoft.com/office/powerpoint/2010/main" val="3845100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8EC54E5-B5ED-4BFA-B025-9862B479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Бюджет должен учитывать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поступления по графику оплаты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CC9BEC6-28BE-4DA9-9E9B-49F665FC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28E95D0-851B-4EF1-8E7F-B658D3F4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1063CE0-4C0B-4EC2-B738-B6ED1010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Маркетинг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36B72F1-8B9B-4515-A031-556E526A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097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Лидогенерация и медийка в общем бюджете с прозрачными подстатьями.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A2C1407-B874-47B9-B85A-69C946E9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Комиссии и ФОТ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9487FAB-E0A1-4E18-A0DD-3EDBA736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Комиссии только по агентским сделкам. ФОТ по актуальным данным Лены.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A0A9DE3-7829-4DC8-971E-AAF34DAD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Деньги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8BA010F-2A27-4BAB-90C0-28C5E060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433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Рассрочка приносит ПВ и платежи по графику. Цена договора не равна кассе месяца.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9D40A25-F124-4F6E-8D3F-4DA8D6D7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Конкретный план октября–декабря требует внутренних входов. Доли 70/30 не определены.</a:t>
            </a:r>
          </a:p>
        </p:txBody>
      </p:sp>
    </p:spTree>
    <p:extLst>
      <p:ext uri="{BB962C8B-B14F-4D97-AF65-F5344CB8AC3E}">
        <p14:creationId xmlns:p14="http://schemas.microsoft.com/office/powerpoint/2010/main" val="6044916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45592CC0-7610-4CF4-AF50-19F393A0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Доли рынка и поисковые частоты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нельзя получить из неполного фида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CBF3367-B5F8-4A57-9D84-123AFEC6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1642BD2-1226-4950-B9DE-F739100E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DFDA28-CC16-456E-9E58-7C698562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Доля HART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87F3F0C-1A5A-4773-877C-96A3BFCA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097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Нет полного сегментного знаменателя и сопоставимых подтверждённых продаж.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3091290-917C-4C1B-93C7-14909D0A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Wordstat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7F7C8C5-A6DC-4356-B0DA-9CAA6D2A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Аутентифицированная выгрузка по Уфе не получена. Частоты не придуманы.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8339D1D-1E35-4F5A-A171-DE30068B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Модели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4831EAE-4152-4A97-86F2-863BBC00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433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Нет идентичных исторических лотов для корзины, гедоники и надёжного прогноза.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60CEC8B-A9A8-4216-B35B-7AF2069F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505 предложений HART на площадке не означают 505 продаж. Нулевой фид не означает распроданность.</a:t>
            </a:r>
          </a:p>
        </p:txBody>
      </p:sp>
    </p:spTree>
    <p:extLst>
      <p:ext uri="{BB962C8B-B14F-4D97-AF65-F5344CB8AC3E}">
        <p14:creationId xmlns:p14="http://schemas.microsoft.com/office/powerpoint/2010/main" val="474560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C34C72C0-8ABC-4F00-9BEF-83FBE8DA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Защита бюджета требует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ответов на конкретные вопросы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A5273A-01B2-407D-8460-A3FF4D78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B504CE2-2410-4D56-9CCB-E39219A1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C86DF51-9A10-4959-B57E-F00BAB82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Продажи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D5729B7-7D31-4A62-884C-792F964B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097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Какой барьер покупателя подтверждён CRM: взнос, платёж, срок или обработка?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090EE07-8B5B-40E1-AA33-24FA45DC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Расходы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24D5797-0C5A-41F0-817F-E56285E0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Как бюджет связан с планом договоров и графиком поступлений?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DE78DAD-5F4D-4374-94E3-AC0DB2A4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Доказательства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8AC0DED-3A73-4F0B-80A4-F245BD9F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4337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Какие данные показывают изменение спроса, а какие только интерес или среднюю цену?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007409C-9368-4722-A8FF-4F191736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В отчёте: ответы CEO, полный реестр источников и расчёты для повторной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201294352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8F625DE-BD5E-41BB-BC8F-7FA4B8B0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Материалы исследования</a:t>
            </a:r>
          </a:p>
          <a:p xmlns:a="http://schemas.openxmlformats.org/drawingml/2006/main">
            <a:pPr>
              <a:def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A2C"/>
                </a:solidFill>
                <a:latin typeface="DejaVu Sans"/>
                <a:ea typeface="DejaVu Sans"/>
                <a:cs typeface="DejaVu Sans"/>
              </a:rPr>
              <a:t>и пределы использования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4B78117-87D2-4AF2-B6F8-62A32A98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960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079551-B874-46F8-A310-64787B68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3F9EE22-0FCF-49F0-9467-D5C6D7F7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191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35 источников</a:t>
            </a:r>
          </a:p>
          <a:p xmlns:a="http://schemas.openxmlformats.org/drawingml/2006/main">
            <a:pPr>
              <a:defRPr sz="262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18 строк исторических групп</a:t>
            </a:r>
          </a:p>
          <a:p xmlns:a="http://schemas.openxmlformats.org/drawingml/2006/main">
            <a:pPr>
              <a:defRPr sz="262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9 пар июля–августа</a:t>
            </a:r>
          </a:p>
          <a:p xmlns:a="http://schemas.openxmlformats.org/drawingml/2006/main">
            <a:pPr>
              <a:defRPr sz="262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9 ценовых примеров</a:t>
            </a:r>
          </a:p>
          <a:p xmlns:a="http://schemas.openxmlformats.org/drawingml/2006/main">
            <a:pPr>
              <a:defRPr sz="2625" b="1">
                <a:solidFill>
                  <a:srgbClr val="23746A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23746A"/>
                </a:solidFill>
                <a:latin typeface="DejaVu Sans"/>
                <a:ea typeface="DejaVu Sans"/>
                <a:cs typeface="DejaVu Sans"/>
              </a:rPr>
              <a:t>6 сценариев первоначального взноса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868C59E-DF68-45ED-92FD-D5CB6DBC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6969"/>
                </a:solidFill>
                <a:latin typeface="DejaVu Sans"/>
                <a:ea typeface="DejaVu Sans"/>
                <a:cs typeface="DejaVu Sans"/>
              </a:rPr>
              <a:t>Полный отчёт, данные JSON, методика и скрипт расчётов находятся в репозитории.</a:t>
            </a:r>
          </a:p>
        </p:txBody>
      </p:sp>
    </p:spTree>
    <p:extLst>
      <p:ext uri="{BB962C8B-B14F-4D97-AF65-F5344CB8AC3E}">
        <p14:creationId xmlns:p14="http://schemas.microsoft.com/office/powerpoint/2010/main" val="1476384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2026-10-14T09:48:22.3720000Z</dcterms:created>
  <dcterms:modified xsi:type="dcterms:W3CDTF">2026-10-14T09:48:22.3720000Z</dcterms:modified>
</coreProperties>
</file>